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practical coordination problem: residue has a short handling window; farmers, balers and buyers need a way to coordinate pickup. Our live evidence is satellite observation. The operating workflow is a prototype and uses synthetic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separation. Real mode is a read-only research view. The dispatch, buyer and evidence workflows are a separate synthetic prototype. No live service, verified registry, or incentive decision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district candidate map, then the selected field's dense satellite history. Missing dates are not interpolated. The field is an example, and the burn tiers are rule-based candidates, not independently validated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loose candidate area is exploratory and is the cross-season series shown. Strict area is precision-first but cannot be read as a year-to-year trend because clean pre-event coverage differs with haze and cloud. FIRMS/VIIRS is corroborative thermal context, not ground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2025, 8.8% of strict optical candidates had a matched VIIRS active-fire detection within the defined matching window. Say: About 9 in 10 strict optical burn candidates had no matched VIIRS active-fire detection within the defined matching window. Do not call this missed fires. Candidates are rule-based and VIIRS is corroborative thermal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Attribute the 12.1 lakh tonne figure directly to The Tribune. It is a reported estimate and should not be represented as an official district statistic or as a measured result of our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Clearly label every object in this segment DEMO/SYNTHETIC. Routing is a straight-line geodesic proxy and does not provide road travel time. Baler and buyer records are fixtures, not verified registries.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have not completed independent human labels. Strict and loose tiers are rule outputs. Risk is a normalized score, not a probability. Optical and thermal layers have different coverage limits. This is research decision support, not enforcement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inviting the judges to inspect a real Muktsar field history, then show the separate synthetic dispatch and prototype QR metadata check. The next step is a bounded pilot with independent labels and real operator/buyer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F6543"/>
                </a:solidFill>
                <a:latin typeface="Apto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B2821"/>
                </a:solidFill>
                <a:latin typeface="Aptos"/>
              </a:rPr>
              <a:t>After harvest, straw needs a buyer and a baler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5B695F"/>
                </a:solidFill>
                <a:latin typeface="Aptos"/>
              </a:rPr>
              <a:t>Source: Parali Se Paisa concept note; operational workflow shown later is a synthetic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5B695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577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B2821"/>
                </a:solidFill>
                <a:latin typeface="Aptos"/>
              </a:rPr>
              <a:t>A narrow window. Many fields. Scattered machinery and demand.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54480"/>
            <a:ext cx="2331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/>
          <a:lstStyle/>
          <a:p>
            <a:pPr algn="ctr"/>
            <a:r>
              <a:rPr sz="1500" b="1">
                <a:solidFill>
                  <a:srgbClr val="1F6543"/>
                </a:solidFill>
              </a:rPr>
              <a:t>Farmers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B2821"/>
                </a:solidFill>
              </a:rPr>
              <a:t>Need a timely straw pickup option.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554480"/>
            <a:ext cx="2331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/>
          <a:lstStyle/>
          <a:p>
            <a:pPr algn="ctr"/>
            <a:r>
              <a:rPr sz="1500" b="1">
                <a:solidFill>
                  <a:srgbClr val="1F6543"/>
                </a:solidFill>
              </a:rPr>
              <a:t>Operators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B2821"/>
                </a:solidFill>
              </a:rPr>
              <a:t>Need a clear dispatch queue.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794760"/>
            <a:ext cx="4846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/>
          <a:lstStyle/>
          <a:p>
            <a:pPr algn="ctr"/>
            <a:r>
              <a:rPr sz="1500" b="1">
                <a:solidFill>
                  <a:srgbClr val="1F6543"/>
                </a:solidFill>
              </a:rPr>
              <a:t>Buyers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B2821"/>
                </a:solidFill>
              </a:rPr>
              <a:t>Need visible, traceable supply; this prototype does not establish actual demand.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F6543"/>
                </a:solidFill>
                <a:latin typeface="Aptos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B2821"/>
                </a:solidFill>
                <a:latin typeface="Aptos"/>
              </a:rPr>
              <a:t>One evidence-to-action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5B695F"/>
                </a:solidFill>
                <a:latin typeface="Aptos"/>
              </a:rPr>
              <a:t>Source: application prototype; see README for real-data and synthetic-mode boundaries.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5B695F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5603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6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/>
          <a:lstStyle/>
          <a:p>
            <a:pPr algn="ctr"/>
            <a:r>
              <a:rPr sz="1500" b="1">
                <a:solidFill>
                  <a:srgbClr val="1F6543"/>
                </a:solidFill>
              </a:rPr>
              <a:t>Observe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B2821"/>
                </a:solidFill>
              </a:rPr>
              <a:t>Sentinel-2 field histories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74519"/>
            <a:ext cx="25603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6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/>
          <a:lstStyle/>
          <a:p>
            <a:pPr algn="ctr"/>
            <a:r>
              <a:rPr sz="1500" b="1">
                <a:solidFill>
                  <a:srgbClr val="1F6543"/>
                </a:solidFill>
              </a:rPr>
              <a:t>Prioritize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B2821"/>
                </a:solidFill>
              </a:rPr>
              <a:t>Normalized burn risk score, not probability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74519"/>
            <a:ext cx="25603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6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/>
          <a:lstStyle/>
          <a:p>
            <a:pPr algn="ctr"/>
            <a:r>
              <a:rPr sz="1500" b="1">
                <a:solidFill>
                  <a:srgbClr val="1F6543"/>
                </a:solidFill>
              </a:rPr>
              <a:t>Coordinate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B2821"/>
                </a:solidFill>
              </a:rPr>
              <a:t>Demo baler/buyer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874519"/>
            <a:ext cx="25603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6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/>
          <a:lstStyle/>
          <a:p>
            <a:pPr algn="ctr"/>
            <a:r>
              <a:rPr sz="1500" b="1">
                <a:solidFill>
                  <a:srgbClr val="1F6543"/>
                </a:solidFill>
              </a:rPr>
              <a:t>Record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B2821"/>
                </a:solidFill>
              </a:rPr>
              <a:t>Prototype QR metadata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46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F6543"/>
                </a:solidFill>
                <a:latin typeface="Aptos"/>
              </a:rPr>
              <a:t>REAL DATA  →  RULE-BASED INTERPRETATION  →  DEMO/SYNTHETIC OPERATIONS  →  PROTOTYPE RECORD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F6543"/>
                </a:solidFill>
                <a:latin typeface="Aptos"/>
              </a:rPr>
              <a:t>REAL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B2821"/>
                </a:solidFill>
                <a:latin typeface="Aptos"/>
              </a:rPr>
              <a:t>Muktsar map and one field history, 2023–2026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5B695F"/>
                </a:solidFill>
                <a:latin typeface="Aptos"/>
              </a:rPr>
              <a:t>Source: fresh screenshots from isolated read-only real-data mode; 74 Sentinel-2 scenes, 12.6 million field-date observations; Fields of The World boundaries are model-derived.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5B695F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07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6543"/>
                </a:solidFill>
                <a:latin typeface="Aptos"/>
              </a:rPr>
              <a:t>74 Sentinel-2 scenes  ·  12.6 million field-date observations</a:t>
            </a:r>
          </a:p>
        </p:txBody>
      </p:sp>
      <p:pic>
        <p:nvPicPr>
          <p:cNvPr id="7" name="Picture 6" descr="research-real-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30" y="1691640"/>
            <a:ext cx="4916978" cy="4160520"/>
          </a:xfrm>
          <a:prstGeom prst="rect">
            <a:avLst/>
          </a:prstGeom>
        </p:spPr>
      </p:pic>
      <p:pic>
        <p:nvPicPr>
          <p:cNvPr id="8" name="Picture 7" descr="field-history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866899"/>
            <a:ext cx="5486400" cy="381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58795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F6543"/>
                </a:solidFill>
                <a:latin typeface="Aptos"/>
              </a:rPr>
              <a:t>REAL DATA · rule-based candidate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58795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F6543"/>
                </a:solidFill>
                <a:latin typeface="Aptos"/>
              </a:rPr>
              <a:t>REAL DATA · one field, stored observations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F6543"/>
                </a:solidFill>
                <a:latin typeface="Aptos"/>
              </a:rPr>
              <a:t>REAL DATA · RULE-BASED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B2821"/>
                </a:solidFill>
                <a:latin typeface="Aptos"/>
              </a:rPr>
              <a:t>Candidate area depends on the rule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5B695F"/>
                </a:solidFill>
                <a:latin typeface="Aptos"/>
              </a:rPr>
              <a:t>Source: burn_candidate_summary.json and FINAL_JUDGE_EVIDENCE.md; full-revisit areas use non-overlapping 20 m pixels.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5B695F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6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/>
          <a:lstStyle/>
          <a:p>
            <a:pPr algn="ctr"/>
            <a:r>
              <a:rPr sz="1500" b="1">
                <a:solidFill>
                  <a:srgbClr val="1F6543"/>
                </a:solidFill>
              </a:rPr>
              <a:t>LOOSE_BURN_CANDIDATE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B2821"/>
                </a:solidFill>
              </a:rPr>
              <a:t>2023: 21,121 ha  |  2024: 10,566 ha  |  2025: 22,941 ha. Full-revisit, exploratory rule-based area.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6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/>
          <a:lstStyle/>
          <a:p>
            <a:pPr algn="ctr"/>
            <a:r>
              <a:rPr sz="1500" b="1">
                <a:solidFill>
                  <a:srgbClr val="DEA639"/>
                </a:solidFill>
              </a:rPr>
              <a:t>STRICT_BURN_CANDIDATE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B2821"/>
                </a:solidFill>
              </a:rPr>
              <a:t>2023: 649 ha  |  2024: 1,022 ha  |  2025: 2,269 ha. Not a trend: haze/cloud changes clean pre-event coverage.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B2821"/>
                </a:solidFill>
                <a:latin typeface="Aptos"/>
              </a:rPr>
              <a:t>All outputs are RULE-BASED BURN CANDIDATES. Human review labels completed: 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F6543"/>
                </a:solidFill>
                <a:latin typeface="Aptos"/>
              </a:rPr>
              <a:t>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B2821"/>
                </a:solidFill>
                <a:latin typeface="Aptos"/>
              </a:rPr>
              <a:t>Optical candidates and thermal context answer different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5B695F"/>
                </a:solidFill>
                <a:latin typeface="Aptos"/>
              </a:rPr>
              <a:t>Source: 2025 strict-candidate / VIIRS matching analysis; defined ≤5-day evidence window; 500 m centroid radius.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5B695F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4800" b="1">
                <a:solidFill>
                  <a:srgbClr val="1F6543"/>
                </a:solidFill>
                <a:latin typeface="Aptos"/>
              </a:rPr>
              <a:t>8.8%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B2821"/>
                </a:solidFill>
                <a:latin typeface="Aptos"/>
              </a:rPr>
              <a:t>of 2025 strict optical candidates had a matched VIIRS active-fire detection within the defined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645920"/>
            <a:ext cx="6537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6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/>
          <a:lstStyle/>
          <a:p>
            <a:pPr algn="ctr"/>
            <a:r>
              <a:rPr sz="1500" b="1">
                <a:solidFill>
                  <a:srgbClr val="1F6543"/>
                </a:solidFill>
              </a:rPr>
              <a:t>What the match means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B2821"/>
                </a:solidFill>
              </a:rPr>
              <a:t>About 9 in 10 strict optical burn candidates had no matched VIIRS active-fire detection within the defined matching window.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3657600"/>
            <a:ext cx="6537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6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/>
          <a:lstStyle/>
          <a:p>
            <a:pPr algn="ctr"/>
            <a:r>
              <a:rPr sz="1500" b="1">
                <a:solidFill>
                  <a:srgbClr val="DEA639"/>
                </a:solidFill>
              </a:rPr>
              <a:t>Interpretation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B2821"/>
                </a:solidFill>
              </a:rPr>
              <a:t>VIIRS is corroborative thermal context, not ground truth or a field-level confirmation.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F6543"/>
                </a:solidFill>
                <a:latin typeface="Aptos"/>
              </a:rPr>
              <a:t>ACTION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B2821"/>
                </a:solidFill>
                <a:latin typeface="Aptos"/>
              </a:rPr>
              <a:t>A reported straw figure needs its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5B695F"/>
                </a:solidFill>
                <a:latin typeface="Aptos"/>
              </a:rPr>
              <a:t>Source: The Tribune, as cited in reference 11 of Parali Se Paisa Concept Note; news-reported estimate, not an official statistic.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5B695F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029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6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/>
          <a:lstStyle/>
          <a:p>
            <a:pPr algn="ctr"/>
            <a:r>
              <a:rPr sz="1500" b="1">
                <a:solidFill>
                  <a:srgbClr val="DEA639"/>
                </a:solidFill>
              </a:rPr>
              <a:t>12.1 lakh tonnes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B2821"/>
                </a:solidFill>
              </a:rPr>
              <a:t>The Tribune reported this straw estimate. It is not an official statistic.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212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6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/>
          <a:lstStyle/>
          <a:p>
            <a:pPr algn="ctr"/>
            <a:r>
              <a:rPr sz="1500" b="1">
                <a:solidFill>
                  <a:srgbClr val="1F6543"/>
                </a:solidFill>
              </a:rPr>
              <a:t>From estimate to action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B2821"/>
                </a:solidFill>
              </a:rPr>
              <a:t>The product concept connects field evidence to straw pickup planning; actual supply and buyer demand still need field confirmation.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B695F"/>
                </a:solidFill>
                <a:latin typeface="Aptos"/>
              </a:rPr>
              <a:t>Attribution stays with the number wherever it appears: The Tribune (reference 11 in the concept note).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F6543"/>
                </a:solidFill>
                <a:latin typeface="Aptos"/>
              </a:rPr>
              <a:t>DEMO / SYNTHETIC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B2821"/>
                </a:solidFill>
                <a:latin typeface="Aptos"/>
              </a:rPr>
              <a:t>Dispatch is an operational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5B695F"/>
                </a:solidFill>
                <a:latin typeface="Aptos"/>
              </a:rPr>
              <a:t>Source: isolated local server, synthetic demo fixtures; route is a straight-line GEODESIC_PROXY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5B695F"/>
                </a:solidFill>
                <a:latin typeface="Aptos"/>
              </a:rPr>
              <a:t>7</a:t>
            </a:r>
          </a:p>
        </p:txBody>
      </p:sp>
      <p:pic>
        <p:nvPicPr>
          <p:cNvPr id="6" name="Picture 5" descr="prototype-disp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5394960" cy="4206240"/>
          </a:xfrm>
          <a:prstGeom prst="rect">
            <a:avLst/>
          </a:prstGeom>
        </p:spPr>
      </p:pic>
      <p:pic>
        <p:nvPicPr>
          <p:cNvPr id="7" name="Picture 6" descr="prototype-certificate-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17320"/>
            <a:ext cx="539496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15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F6543"/>
                </a:solidFill>
                <a:latin typeface="Aptos"/>
              </a:rPr>
              <a:t>DEMO/SYNTHETIC · route proxy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5715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F6543"/>
                </a:solidFill>
                <a:latin typeface="Aptos"/>
              </a:rPr>
              <a:t>PROTOTYPE · QR metadata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F6543"/>
                </a:solidFill>
                <a:latin typeface="Aptos"/>
              </a:rPr>
              <a:t>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B2821"/>
                </a:solidFill>
                <a:latin typeface="Aptos"/>
              </a:rPr>
              <a:t>What the evidence can and cannot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5B695F"/>
                </a:solidFill>
                <a:latin typeface="Aptos"/>
              </a:rPr>
              <a:t>Source: FINAL_JUDGE_EVIDENCE.md; RESEARCH_SUMMARY.md; RESEARCH_METHODS.md.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5B695F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029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6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/>
          <a:lstStyle/>
          <a:p>
            <a:pPr algn="ctr"/>
            <a:r>
              <a:rPr sz="1500" b="1">
                <a:solidFill>
                  <a:srgbClr val="DEA639"/>
                </a:solidFill>
              </a:rPr>
              <a:t>No human validation yet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B2821"/>
                </a:solidFill>
              </a:rPr>
              <a:t>0 completed blinded labels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029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6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/>
          <a:lstStyle/>
          <a:p>
            <a:pPr algn="ctr"/>
            <a:r>
              <a:rPr sz="1500" b="1">
                <a:solidFill>
                  <a:srgbClr val="DEA639"/>
                </a:solidFill>
              </a:rPr>
              <a:t>No strict trend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B2821"/>
                </a:solidFill>
              </a:rPr>
              <a:t>Pre-event clarity varies by season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029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6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/>
          <a:lstStyle/>
          <a:p>
            <a:pPr algn="ctr"/>
            <a:r>
              <a:rPr sz="1500" b="1">
                <a:solidFill>
                  <a:srgbClr val="DEA639"/>
                </a:solidFill>
              </a:rPr>
              <a:t>No ground truth claim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B2821"/>
                </a:solidFill>
              </a:rPr>
              <a:t>Thermal matches are corroborative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657600"/>
            <a:ext cx="5029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6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/>
          <a:lstStyle/>
          <a:p>
            <a:pPr algn="ctr"/>
            <a:r>
              <a:rPr sz="1500" b="1">
                <a:solidFill>
                  <a:srgbClr val="DEA639"/>
                </a:solidFill>
              </a:rPr>
              <a:t>No probability claim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B2821"/>
                </a:solidFill>
              </a:rPr>
              <a:t>Risk is normalized score, not probability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F6543"/>
                </a:solidFill>
                <a:latin typeface="Aptos"/>
              </a:rPr>
              <a:t>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B2821"/>
                </a:solidFill>
                <a:latin typeface="Aptos"/>
              </a:rPr>
              <a:t>Pilot the evidence-to-pickup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5B695F"/>
                </a:solidFill>
                <a:latin typeface="Aptos"/>
              </a:rPr>
              <a:t>Project sources: docs/RESEARCH_METHODS.md; docs/PITCH_AND_DEMO_GUIDE.md; synthetic prototype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5B695F"/>
                </a:solidFill>
                <a:latin typeface="Apto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B2821"/>
                </a:solidFill>
                <a:latin typeface="Aptos"/>
              </a:rPr>
              <a:t>Real satellite evidence → clear limits → a prototype path from straw to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77639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/>
          <a:lstStyle/>
          <a:p>
            <a:pPr algn="ctr"/>
            <a:r>
              <a:rPr sz="1500" b="1">
                <a:solidFill>
                  <a:srgbClr val="1F6543"/>
                </a:solidFill>
              </a:rPr>
              <a:t>1 · Inspect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B2821"/>
                </a:solidFill>
              </a:rPr>
              <a:t>Muktsar real map and one field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977639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/>
          <a:lstStyle/>
          <a:p>
            <a:pPr algn="ctr"/>
            <a:r>
              <a:rPr sz="1500" b="1">
                <a:solidFill>
                  <a:srgbClr val="1F6543"/>
                </a:solidFill>
              </a:rPr>
              <a:t>2 · Demonstrate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B2821"/>
                </a:solidFill>
              </a:rPr>
              <a:t>Synthetic dispatch and buyer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977639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/>
          <a:lstStyle/>
          <a:p>
            <a:pPr algn="ctr"/>
            <a:r>
              <a:rPr sz="1500" b="1">
                <a:solidFill>
                  <a:srgbClr val="1F6543"/>
                </a:solidFill>
              </a:rPr>
              <a:t>3 · Pilot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B2821"/>
                </a:solidFill>
              </a:rPr>
              <a:t>Independent labels and local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