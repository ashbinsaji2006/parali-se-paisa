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paradox: the official fire count says the problem is nearly solved, but the burn scars say otherwise. We use free satellite data to see every field, find the burns that fire satellites now miss, and send balers to the fields most likely to burn, so farmers earn from straw instead of burning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Punjab will produce about 18.8 million tonnes of paddy straw this season. Fire counts from polar-orbiting satellites have collapsed, which looks like success. But geostationary data show farmers now burn after 3 PM, after the satellites pass. Policy, incentives and enforcement that run on fire counts are steering blind.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downloaded every Sentinel-2 image of Muktsar for four seasons, harmonised it, and reduced it to time series for 170 thousand fields. A harvest-aware and smoke-robust detector dates each harvest and each burn. We then match burns with thermal fire alerts, learn who burns, replay the season with balers, and nowcast this week.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2023 to 2025, VIIRS fire alerts in Muktsar fell from 2,792 to 600. Sentinel-2 burn scars, mapped field by field, stayed flat at 7,883 and 7,930 hectares. Every season was thinned to the same 5-day revisit, so 2025's extra satellite does not create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8 percent of 2025's strict-tier field burn candidates had a VIIRS alert anywhere within 500 metres during the burn window, against 34 percent in 2023. Unburned control fields match 4 percent by proximity alone, so the true share is lower still. And at the peak, smoke blinds ordinary optical monitoring too, which our SWIR logic is built to survive.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detector separates harvest from fire. A naive pre/post dNBR, as often used, flags almost every field because harvest alone moves NBR. We validate against independent thermal alerts, with controls, and we built a blind stratified labelling tool so precision is measured by humans, not assumed.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Burns cluster in space and repeat in time: a field that burned last year was 2.6 times as likely to burn again. After harvest the median wait before fire was 15 days. That is the window a satellite-triggered dispatch can 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replayed the real 2025 season. With 100 balers, first-come-first-served would have reached 4.3 percent of the fields that burned; ranking by burn history reaches 11.4 percent. That is 2,498 hectares of burning avoided, about 1,859 tonnes CO2-equivalent and 85 tonnes of PM2.5. The oracle line shows the value of better prediction.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2026-10-03, only 0.7 percent of the district is harvested, a normal pace. Based on three seasons of curves, the harvest wave peaks in the last two weeks of October. Our pre-season list tells operators where to book balers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in a working app. Officials see the research evidence and the live map, operators get dispatch plans, buyers get traceable supply, and farmers get updates in Punjabi and Hindi and a no-burn certificate. Field-level burn data is restricted and never used to fine anyone.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district's straw is worth almost two hundred crore rupees at today's biomass price. Each thousand hectares that is not burned avoids about 740 tonnes of CO2-equivalent and 34 tonnes of PM2.5. The whole system uses free satellite data and a laptop, so extending to all of Punjab and Haryana is a configuration change, not a hardware rollout.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careful about what the evidence supports. The burn tiers are rule outputs; human labels are being collected. Char can be ploughed in within days, so our counts are lower bounds. Next we add a radar paddy mask, Sentinel-1 for smog gaps, and a one-block field pilot with a baler cooperative to measure real acceptance and tonnage.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repeating the two numbers: fire alerts fell 79 percent but burn scars did not, and the same balers reach 2.6 times more would-be burns when guided by our risk map. Invite the judges to the live 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
            </a:r>
          </a:p>
        </p:txBody>
      </p:sp>
      <p:sp>
        <p:nvSpPr>
          <p:cNvPr id="3" name="TextBox 2"/>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a:t>
            </a:r>
          </a:p>
        </p:txBody>
      </p:sp>
      <p:sp>
        <p:nvSpPr>
          <p:cNvPr id="4" name="TextBox 3"/>
          <p:cNvSpPr txBox="1"/>
          <p:nvPr/>
        </p:nvSpPr>
        <p:spPr>
          <a:xfrm>
            <a:off x="548640" y="502920"/>
            <a:ext cx="6766560" cy="914400"/>
          </a:xfrm>
          <a:prstGeom prst="rect">
            <a:avLst/>
          </a:prstGeom>
          <a:noFill/>
        </p:spPr>
        <p:txBody>
          <a:bodyPr wrap="square">
            <a:spAutoFit/>
          </a:bodyPr>
          <a:lstStyle/>
          <a:p>
            <a:pPr algn="l">
              <a:spcAft>
                <a:spcPts val="600"/>
              </a:spcAft>
            </a:pPr>
            <a:r>
              <a:rPr sz="4400" b="1">
                <a:solidFill>
                  <a:srgbClr val="1D3D2B"/>
                </a:solidFill>
                <a:latin typeface="Segoe UI"/>
              </a:rPr>
              <a:t>Parali Se Paisa</a:t>
            </a:r>
          </a:p>
        </p:txBody>
      </p:sp>
      <p:sp>
        <p:nvSpPr>
          <p:cNvPr id="5" name="TextBox 4"/>
          <p:cNvSpPr txBox="1"/>
          <p:nvPr/>
        </p:nvSpPr>
        <p:spPr>
          <a:xfrm>
            <a:off x="548640" y="1508760"/>
            <a:ext cx="6583680" cy="1463040"/>
          </a:xfrm>
          <a:prstGeom prst="rect">
            <a:avLst/>
          </a:prstGeom>
          <a:noFill/>
        </p:spPr>
        <p:txBody>
          <a:bodyPr wrap="square">
            <a:spAutoFit/>
          </a:bodyPr>
          <a:lstStyle/>
          <a:p>
            <a:pPr algn="l">
              <a:spcAft>
                <a:spcPts val="600"/>
              </a:spcAft>
            </a:pPr>
            <a:r>
              <a:rPr sz="2400" b="0">
                <a:solidFill>
                  <a:srgbClr val="52514E"/>
                </a:solidFill>
                <a:latin typeface="Segoe UI"/>
              </a:rPr>
              <a:t>The burns the fire satellites stopped seeing, and the balers that can reach them first</a:t>
            </a:r>
          </a:p>
        </p:txBody>
      </p:sp>
      <p:sp>
        <p:nvSpPr>
          <p:cNvPr id="6" name="TextBox 5"/>
          <p:cNvSpPr txBox="1"/>
          <p:nvPr/>
        </p:nvSpPr>
        <p:spPr>
          <a:xfrm>
            <a:off x="548640" y="2971800"/>
            <a:ext cx="6400800" cy="1097280"/>
          </a:xfrm>
          <a:prstGeom prst="rect">
            <a:avLst/>
          </a:prstGeom>
          <a:noFill/>
        </p:spPr>
        <p:txBody>
          <a:bodyPr wrap="square">
            <a:spAutoFit/>
          </a:bodyPr>
          <a:lstStyle/>
          <a:p>
            <a:pPr algn="l">
              <a:spcAft>
                <a:spcPts val="600"/>
              </a:spcAft>
            </a:pPr>
            <a:r>
              <a:rPr sz="1500" b="0">
                <a:solidFill>
                  <a:srgbClr val="52514E"/>
                </a:solidFill>
                <a:latin typeface="Segoe UI"/>
              </a:rPr>
              <a:t>Satellite AI that helps turn paddy straw into farmer income</a:t>
            </a:r>
          </a:p>
          <a:p>
            <a:pPr algn="l">
              <a:spcAft>
                <a:spcPts val="600"/>
              </a:spcAft>
            </a:pPr>
            <a:r>
              <a:rPr sz="1500" b="0">
                <a:solidFill>
                  <a:srgbClr val="52514E"/>
                </a:solidFill>
                <a:latin typeface="Segoe UI"/>
              </a:rPr>
              <a:t>Greenovators Hackathon 2026 · Waste to Wealth · Net Zero AI Architecture</a:t>
            </a:r>
          </a:p>
        </p:txBody>
      </p:sp>
      <p:sp>
        <p:nvSpPr>
          <p:cNvPr id="7" name="TextBox 6"/>
          <p:cNvSpPr txBox="1"/>
          <p:nvPr/>
        </p:nvSpPr>
        <p:spPr>
          <a:xfrm>
            <a:off x="548640" y="4754880"/>
            <a:ext cx="6400800" cy="1097280"/>
          </a:xfrm>
          <a:prstGeom prst="rect">
            <a:avLst/>
          </a:prstGeom>
          <a:noFill/>
        </p:spPr>
        <p:txBody>
          <a:bodyPr wrap="square">
            <a:spAutoFit/>
          </a:bodyPr>
          <a:lstStyle/>
          <a:p>
            <a:pPr algn="l">
              <a:spcAft>
                <a:spcPts val="600"/>
              </a:spcAft>
            </a:pPr>
            <a:r>
              <a:rPr sz="1300" b="0">
                <a:solidFill>
                  <a:srgbClr val="898781"/>
                </a:solidFill>
                <a:latin typeface="Segoe UI"/>
              </a:rPr>
              <a:t>Real data: Sentinel-2, VIIRS, MODIS and ERA5 for Sri Muktsar Sahib, Punjab, 2023–2026</a:t>
            </a:r>
          </a:p>
          <a:p>
            <a:pPr algn="l">
              <a:spcAft>
                <a:spcPts val="600"/>
              </a:spcAft>
            </a:pPr>
            <a:r>
              <a:rPr sz="1300" b="0">
                <a:solidFill>
                  <a:srgbClr val="898781"/>
                </a:solidFill>
                <a:latin typeface="Segoe UI"/>
              </a:rPr>
              <a:t>165,025 crop fields · 74 satellite scenes · 12.6 million field observations</a:t>
            </a:r>
          </a:p>
        </p:txBody>
      </p:sp>
      <p:pic>
        <p:nvPicPr>
          <p:cNvPr id="8" name="Picture 7" descr="f8_burn_map_2025.png"/>
          <p:cNvPicPr>
            <a:picLocks noChangeAspect="1"/>
          </p:cNvPicPr>
          <p:nvPr/>
        </p:nvPicPr>
        <p:blipFill>
          <a:blip r:embed="rId3"/>
          <a:stretch>
            <a:fillRect/>
          </a:stretch>
        </p:blipFill>
        <p:spPr>
          <a:xfrm>
            <a:off x="7680960" y="228600"/>
            <a:ext cx="4763386" cy="64008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THE PROBLEM</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The official indicator is going blind</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iFOREST Stubble Burning Status Report 2025 (SEVIRI geostationary data); NASA Earth Observatory, Dec 2025; concept-note references for straw volume.</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2</a:t>
            </a:r>
          </a:p>
        </p:txBody>
      </p:sp>
      <p:sp>
        <p:nvSpPr>
          <p:cNvPr id="6" name="TextBox 5"/>
          <p:cNvSpPr txBox="1"/>
          <p:nvPr/>
        </p:nvSpPr>
        <p:spPr>
          <a:xfrm>
            <a:off x="548640" y="1737360"/>
            <a:ext cx="3474720" cy="822960"/>
          </a:xfrm>
          <a:prstGeom prst="rect">
            <a:avLst/>
          </a:prstGeom>
          <a:noFill/>
        </p:spPr>
        <p:txBody>
          <a:bodyPr wrap="square">
            <a:spAutoFit/>
          </a:bodyPr>
          <a:lstStyle/>
          <a:p>
            <a:pPr algn="l">
              <a:spcAft>
                <a:spcPts val="600"/>
              </a:spcAft>
            </a:pPr>
            <a:r>
              <a:rPr sz="4000" b="1">
                <a:solidFill>
                  <a:srgbClr val="1D3D2B"/>
                </a:solidFill>
                <a:latin typeface="Segoe UI"/>
              </a:rPr>
              <a:t>18.8 Mt</a:t>
            </a:r>
          </a:p>
        </p:txBody>
      </p:sp>
      <p:sp>
        <p:nvSpPr>
          <p:cNvPr id="7" name="TextBox 6"/>
          <p:cNvSpPr txBox="1"/>
          <p:nvPr/>
        </p:nvSpPr>
        <p:spPr>
          <a:xfrm>
            <a:off x="548640" y="2606039"/>
            <a:ext cx="3474720" cy="914400"/>
          </a:xfrm>
          <a:prstGeom prst="rect">
            <a:avLst/>
          </a:prstGeom>
          <a:noFill/>
        </p:spPr>
        <p:txBody>
          <a:bodyPr wrap="square">
            <a:spAutoFit/>
          </a:bodyPr>
          <a:lstStyle/>
          <a:p>
            <a:pPr algn="l">
              <a:spcAft>
                <a:spcPts val="600"/>
              </a:spcAft>
            </a:pPr>
            <a:r>
              <a:rPr sz="1300" b="0">
                <a:solidFill>
                  <a:srgbClr val="52514E"/>
                </a:solidFill>
                <a:latin typeface="Segoe UI"/>
              </a:rPr>
              <a:t>paddy straw expected in Punjab in 2026, most of it with a 2–3 week window before wheat sowing</a:t>
            </a:r>
          </a:p>
        </p:txBody>
      </p:sp>
      <p:sp>
        <p:nvSpPr>
          <p:cNvPr id="8" name="TextBox 7"/>
          <p:cNvSpPr txBox="1"/>
          <p:nvPr/>
        </p:nvSpPr>
        <p:spPr>
          <a:xfrm>
            <a:off x="4297680" y="1737360"/>
            <a:ext cx="3474720" cy="822960"/>
          </a:xfrm>
          <a:prstGeom prst="rect">
            <a:avLst/>
          </a:prstGeom>
          <a:noFill/>
        </p:spPr>
        <p:txBody>
          <a:bodyPr wrap="square">
            <a:spAutoFit/>
          </a:bodyPr>
          <a:lstStyle/>
          <a:p>
            <a:pPr algn="l">
              <a:spcAft>
                <a:spcPts val="600"/>
              </a:spcAft>
            </a:pPr>
            <a:r>
              <a:rPr sz="4000" b="1">
                <a:solidFill>
                  <a:srgbClr val="D03B3B"/>
                </a:solidFill>
                <a:latin typeface="Segoe UI"/>
              </a:rPr>
              <a:t>−92%</a:t>
            </a:r>
          </a:p>
        </p:txBody>
      </p:sp>
      <p:sp>
        <p:nvSpPr>
          <p:cNvPr id="9" name="TextBox 8"/>
          <p:cNvSpPr txBox="1"/>
          <p:nvPr/>
        </p:nvSpPr>
        <p:spPr>
          <a:xfrm>
            <a:off x="4297680" y="2606039"/>
            <a:ext cx="3474720" cy="914400"/>
          </a:xfrm>
          <a:prstGeom prst="rect">
            <a:avLst/>
          </a:prstGeom>
          <a:noFill/>
        </p:spPr>
        <p:txBody>
          <a:bodyPr wrap="square">
            <a:spAutoFit/>
          </a:bodyPr>
          <a:lstStyle/>
          <a:p>
            <a:pPr algn="l">
              <a:spcAft>
                <a:spcPts val="600"/>
              </a:spcAft>
            </a:pPr>
            <a:r>
              <a:rPr sz="1300" b="0">
                <a:solidFill>
                  <a:srgbClr val="52514E"/>
                </a:solidFill>
                <a:latin typeface="Segoe UI"/>
              </a:rPr>
              <a:t>active-fire counts in Punjab since the 2021 peak (MODIS/VIIRS)</a:t>
            </a:r>
          </a:p>
        </p:txBody>
      </p:sp>
      <p:sp>
        <p:nvSpPr>
          <p:cNvPr id="10" name="TextBox 9"/>
          <p:cNvSpPr txBox="1"/>
          <p:nvPr/>
        </p:nvSpPr>
        <p:spPr>
          <a:xfrm>
            <a:off x="8046720" y="1737360"/>
            <a:ext cx="3566160" cy="822960"/>
          </a:xfrm>
          <a:prstGeom prst="rect">
            <a:avLst/>
          </a:prstGeom>
          <a:noFill/>
        </p:spPr>
        <p:txBody>
          <a:bodyPr wrap="square">
            <a:spAutoFit/>
          </a:bodyPr>
          <a:lstStyle/>
          <a:p>
            <a:pPr algn="l">
              <a:spcAft>
                <a:spcPts val="600"/>
              </a:spcAft>
            </a:pPr>
            <a:r>
              <a:rPr sz="4000" b="1">
                <a:solidFill>
                  <a:srgbClr val="D03B3B"/>
                </a:solidFill>
                <a:latin typeface="Segoe UI"/>
              </a:rPr>
              <a:t>&gt;90%</a:t>
            </a:r>
          </a:p>
        </p:txBody>
      </p:sp>
      <p:sp>
        <p:nvSpPr>
          <p:cNvPr id="11" name="TextBox 10"/>
          <p:cNvSpPr txBox="1"/>
          <p:nvPr/>
        </p:nvSpPr>
        <p:spPr>
          <a:xfrm>
            <a:off x="8046720" y="2606039"/>
            <a:ext cx="3566160" cy="914400"/>
          </a:xfrm>
          <a:prstGeom prst="rect">
            <a:avLst/>
          </a:prstGeom>
          <a:noFill/>
        </p:spPr>
        <p:txBody>
          <a:bodyPr wrap="square">
            <a:spAutoFit/>
          </a:bodyPr>
          <a:lstStyle/>
          <a:p>
            <a:pPr algn="l">
              <a:spcAft>
                <a:spcPts val="600"/>
              </a:spcAft>
            </a:pPr>
            <a:r>
              <a:rPr sz="1300" b="0">
                <a:solidFill>
                  <a:srgbClr val="52514E"/>
                </a:solidFill>
                <a:latin typeface="Segoe UI"/>
              </a:rPr>
              <a:t>of large farm fires in 2024–25 lit after 3 PM, after polar satellites pass (3% in 2021)</a:t>
            </a:r>
          </a:p>
        </p:txBody>
      </p:sp>
      <p:sp>
        <p:nvSpPr>
          <p:cNvPr id="12" name="TextBox 11"/>
          <p:cNvSpPr txBox="1"/>
          <p:nvPr/>
        </p:nvSpPr>
        <p:spPr>
          <a:xfrm>
            <a:off x="548640" y="4206240"/>
            <a:ext cx="10972800" cy="1280160"/>
          </a:xfrm>
          <a:prstGeom prst="rect">
            <a:avLst/>
          </a:prstGeom>
          <a:noFill/>
        </p:spPr>
        <p:txBody>
          <a:bodyPr wrap="square">
            <a:spAutoFit/>
          </a:bodyPr>
          <a:lstStyle/>
          <a:p>
            <a:pPr algn="l">
              <a:spcAft>
                <a:spcPts val="600"/>
              </a:spcAft>
            </a:pPr>
            <a:r>
              <a:rPr sz="1700" b="0">
                <a:solidFill>
                  <a:srgbClr val="0B0B0B"/>
                </a:solidFill>
                <a:latin typeface="Segoe UI"/>
              </a:rPr>
              <a:t>Burnt area fell only 25–35% while fire counts fell more than 95%. Money, machines and monitoring cannot target fields nobody can see.</a:t>
            </a:r>
          </a:p>
          <a:p>
            <a:pPr algn="l">
              <a:spcAft>
                <a:spcPts val="600"/>
              </a:spcAft>
            </a:pPr>
            <a:r>
              <a:rPr sz="1700" b="0">
                <a:solidFill>
                  <a:srgbClr val="0B0B0B"/>
                </a:solidFill>
                <a:latin typeface="Segoe UI"/>
              </a:rPr>
              <a:t>Question: can free satellite data see every field's burn, and send balers before the fire?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OUR APPROACH</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Every field, every 2–5 days, from free satellite data</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Runs end to end on a laptop CPU: download 45 min, extraction 5 min, analysis 70 s. No GPU and no paid data.</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3</a:t>
            </a:r>
          </a:p>
        </p:txBody>
      </p:sp>
      <p:sp>
        <p:nvSpPr>
          <p:cNvPr id="6" name="Rounded Rectangle 5"/>
          <p:cNvSpPr/>
          <p:nvPr/>
        </p:nvSpPr>
        <p:spPr>
          <a:xfrm>
            <a:off x="548640" y="1645920"/>
            <a:ext cx="2377440" cy="1188720"/>
          </a:xfrm>
          <a:prstGeom prst="roundRect">
            <a:avLst>
              <a:gd name="adj" fmla="val 8000"/>
            </a:avLst>
          </a:prstGeom>
          <a:solidFill>
            <a:srgbClr val="FFFFF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Sentinel-2 L2A</a:t>
            </a:r>
          </a:p>
          <a:p>
            <a:r>
              <a:rPr sz="1050">
                <a:solidFill>
                  <a:srgbClr val="52514E"/>
                </a:solidFill>
                <a:latin typeface="Segoe UI"/>
              </a:rPr>
              <a:t>74 scenes 2023–2026 on one 20 m grid; reflectance offset harmonised</a:t>
            </a:r>
          </a:p>
        </p:txBody>
      </p:sp>
      <p:sp>
        <p:nvSpPr>
          <p:cNvPr id="7" name="Rounded Rectangle 6"/>
          <p:cNvSpPr/>
          <p:nvPr/>
        </p:nvSpPr>
        <p:spPr>
          <a:xfrm>
            <a:off x="3291840" y="1645920"/>
            <a:ext cx="2560320" cy="1188720"/>
          </a:xfrm>
          <a:prstGeom prst="roundRect">
            <a:avLst>
              <a:gd name="adj" fmla="val 8000"/>
            </a:avLst>
          </a:prstGeom>
          <a:solidFill>
            <a:srgbClr val="FFFFF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170,623 field time series</a:t>
            </a:r>
          </a:p>
          <a:p>
            <a:r>
              <a:rPr sz="1050">
                <a:solidFill>
                  <a:srgbClr val="52514E"/>
                </a:solidFill>
                <a:latin typeface="Segoe UI"/>
              </a:rPr>
              <a:t>12.6 M observations · Fields of The World boundaries</a:t>
            </a:r>
          </a:p>
        </p:txBody>
      </p:sp>
      <p:sp>
        <p:nvSpPr>
          <p:cNvPr id="8" name="Rounded Rectangle 7"/>
          <p:cNvSpPr/>
          <p:nvPr/>
        </p:nvSpPr>
        <p:spPr>
          <a:xfrm>
            <a:off x="6217920" y="1645920"/>
            <a:ext cx="2651760" cy="1188720"/>
          </a:xfrm>
          <a:prstGeom prst="roundRect">
            <a:avLst>
              <a:gd name="adj" fmla="val 8000"/>
            </a:avLst>
          </a:prstGeom>
          <a:solidFill>
            <a:srgbClr val="FFFFF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Harvest-aware, smoke-robust events</a:t>
            </a:r>
          </a:p>
          <a:p>
            <a:r>
              <a:rPr sz="1050">
                <a:solidFill>
                  <a:srgbClr val="52514E"/>
                </a:solidFill>
                <a:latin typeface="Segoe UI"/>
              </a:rPr>
              <a:t>NIR/SWIR change logic dates harvest and burn per field</a:t>
            </a:r>
          </a:p>
        </p:txBody>
      </p:sp>
      <p:sp>
        <p:nvSpPr>
          <p:cNvPr id="9" name="Rounded Rectangle 8"/>
          <p:cNvSpPr/>
          <p:nvPr/>
        </p:nvSpPr>
        <p:spPr>
          <a:xfrm>
            <a:off x="9235440" y="1645920"/>
            <a:ext cx="2377440" cy="1188720"/>
          </a:xfrm>
          <a:prstGeom prst="roundRect">
            <a:avLst>
              <a:gd name="adj" fmla="val 8000"/>
            </a:avLst>
          </a:prstGeom>
          <a:solidFill>
            <a:srgbClr val="FFFFF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Research Evidence app</a:t>
            </a:r>
          </a:p>
          <a:p>
            <a:r>
              <a:rPr sz="1050">
                <a:solidFill>
                  <a:srgbClr val="52514E"/>
                </a:solidFill>
                <a:latin typeface="Segoe UI"/>
              </a:rPr>
              <a:t>Map, figures, forecast, pre-booking list</a:t>
            </a:r>
          </a:p>
        </p:txBody>
      </p:sp>
      <p:cxnSp>
        <p:nvCxnSpPr>
          <p:cNvPr id="10" name="Connector 9"/>
          <p:cNvCxnSpPr/>
          <p:nvPr/>
        </p:nvCxnSpPr>
        <p:spPr>
          <a:xfrm>
            <a:off x="2926080" y="2240280"/>
            <a:ext cx="365760" cy="0"/>
          </a:xfrm>
          <a:prstGeom prst="line">
            <a:avLst/>
          </a:prstGeom>
          <a:ln w="19050">
            <a:solidFill>
              <a:srgbClr val="89878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52160" y="2240280"/>
            <a:ext cx="365760" cy="0"/>
          </a:xfrm>
          <a:prstGeom prst="line">
            <a:avLst/>
          </a:prstGeom>
          <a:ln w="19050">
            <a:solidFill>
              <a:srgbClr val="89878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869680" y="2240280"/>
            <a:ext cx="365760" cy="0"/>
          </a:xfrm>
          <a:prstGeom prst="line">
            <a:avLst/>
          </a:prstGeom>
          <a:ln w="19050">
            <a:solidFill>
              <a:srgbClr val="898781"/>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3520440"/>
            <a:ext cx="2560320" cy="1143000"/>
          </a:xfrm>
          <a:prstGeom prst="roundRect">
            <a:avLst>
              <a:gd name="adj" fmla="val 8000"/>
            </a:avLst>
          </a:prstGeom>
          <a:solidFill>
            <a:srgbClr val="F0F4E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Thermal blind spot</a:t>
            </a:r>
          </a:p>
          <a:p>
            <a:r>
              <a:rPr sz="1050">
                <a:solidFill>
                  <a:srgbClr val="52514E"/>
                </a:solidFill>
                <a:latin typeface="Segoe UI"/>
              </a:rPr>
              <a:t>match every burn with VIIRS/MODIS alerts, with proximity controls</a:t>
            </a:r>
          </a:p>
        </p:txBody>
      </p:sp>
      <p:sp>
        <p:nvSpPr>
          <p:cNvPr id="14" name="Rounded Rectangle 13"/>
          <p:cNvSpPr/>
          <p:nvPr/>
        </p:nvSpPr>
        <p:spPr>
          <a:xfrm>
            <a:off x="3337560" y="3520440"/>
            <a:ext cx="2560320" cy="1143000"/>
          </a:xfrm>
          <a:prstGeom prst="roundRect">
            <a:avLst>
              <a:gd name="adj" fmla="val 8000"/>
            </a:avLst>
          </a:prstGeom>
          <a:solidFill>
            <a:srgbClr val="F0F4E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Burn-risk model</a:t>
            </a:r>
          </a:p>
          <a:p>
            <a:r>
              <a:rPr sz="1050">
                <a:solidFill>
                  <a:srgbClr val="52514E"/>
                </a:solidFill>
                <a:latin typeface="Segoe UI"/>
              </a:rPr>
              <a:t>trained on 2024, tested on the unseen 2025 season</a:t>
            </a:r>
          </a:p>
        </p:txBody>
      </p:sp>
      <p:sp>
        <p:nvSpPr>
          <p:cNvPr id="15" name="Rounded Rectangle 14"/>
          <p:cNvSpPr/>
          <p:nvPr/>
        </p:nvSpPr>
        <p:spPr>
          <a:xfrm>
            <a:off x="6126479" y="3520440"/>
            <a:ext cx="2560320" cy="1143000"/>
          </a:xfrm>
          <a:prstGeom prst="roundRect">
            <a:avLst>
              <a:gd name="adj" fmla="val 8000"/>
            </a:avLst>
          </a:prstGeom>
          <a:solidFill>
            <a:srgbClr val="F0F4E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Season-replay twin</a:t>
            </a:r>
          </a:p>
          <a:p>
            <a:r>
              <a:rPr sz="1050">
                <a:solidFill>
                  <a:srgbClr val="52514E"/>
                </a:solidFill>
                <a:latin typeface="Segoe UI"/>
              </a:rPr>
              <a:t>replay real 2025 harvests and burns with baler fleets</a:t>
            </a:r>
          </a:p>
        </p:txBody>
      </p:sp>
      <p:sp>
        <p:nvSpPr>
          <p:cNvPr id="16" name="Rounded Rectangle 15"/>
          <p:cNvSpPr/>
          <p:nvPr/>
        </p:nvSpPr>
        <p:spPr>
          <a:xfrm>
            <a:off x="8915399" y="3520440"/>
            <a:ext cx="2560320" cy="1143000"/>
          </a:xfrm>
          <a:prstGeom prst="roundRect">
            <a:avLst>
              <a:gd name="adj" fmla="val 8000"/>
            </a:avLst>
          </a:prstGeom>
          <a:solidFill>
            <a:srgbClr val="F0F4EF"/>
          </a:solidFill>
          <a:ln>
            <a:solidFill>
              <a:srgbClr val="D9DCD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B0B0B"/>
                </a:solidFill>
                <a:latin typeface="Segoe UI"/>
              </a:rPr>
              <a:t>Live 2026 nowcast</a:t>
            </a:r>
          </a:p>
          <a:p>
            <a:r>
              <a:rPr sz="1050">
                <a:solidFill>
                  <a:srgbClr val="52514E"/>
                </a:solidFill>
                <a:latin typeface="Segoe UI"/>
              </a:rPr>
              <a:t>harvest progress, weekly straw supply, pre-booking</a:t>
            </a:r>
          </a:p>
        </p:txBody>
      </p:sp>
      <p:cxnSp>
        <p:nvCxnSpPr>
          <p:cNvPr id="17" name="Connector 16"/>
          <p:cNvCxnSpPr/>
          <p:nvPr/>
        </p:nvCxnSpPr>
        <p:spPr>
          <a:xfrm>
            <a:off x="7543800" y="2834640"/>
            <a:ext cx="0" cy="685800"/>
          </a:xfrm>
          <a:prstGeom prst="line">
            <a:avLst/>
          </a:prstGeom>
          <a:ln w="19050">
            <a:solidFill>
              <a:srgbClr val="898781"/>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48640" y="5029200"/>
            <a:ext cx="10972800" cy="1097280"/>
          </a:xfrm>
          <a:prstGeom prst="rect">
            <a:avLst/>
          </a:prstGeom>
          <a:noFill/>
        </p:spPr>
        <p:txBody>
          <a:bodyPr wrap="square">
            <a:spAutoFit/>
          </a:bodyPr>
          <a:lstStyle/>
          <a:p>
            <a:pPr algn="l">
              <a:spcAft>
                <a:spcPts val="600"/>
              </a:spcAft>
            </a:pPr>
            <a:r>
              <a:rPr sz="1400" b="0">
                <a:solidFill>
                  <a:srgbClr val="52514E"/>
                </a:solidFill>
                <a:latin typeface="Segoe UI"/>
              </a:rPr>
              <a:t>Inputs: Sentinel-2 (ESA), VIIRS S-NPP / NOAA-20 / NOAA-21 and MODIS (NASA), MCD64A1, ERA5. All free and global, so it scales to any district.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FINDING 1</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Fire alerts fell 79%. Burn scars did not.</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Sentinel-2 at a harmonised 5-day revisit. Strict = char-like signature tier; loose = all burn candidates; both are unverified rule candidates. 2024 burn area is a lower bound (smog gap, 3–21 Nov).</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4</a:t>
            </a:r>
          </a:p>
        </p:txBody>
      </p:sp>
      <p:pic>
        <p:nvPicPr>
          <p:cNvPr id="6" name="Picture 5" descr="f1_alerts_vs_scars.png"/>
          <p:cNvPicPr>
            <a:picLocks noChangeAspect="1"/>
          </p:cNvPicPr>
          <p:nvPr/>
        </p:nvPicPr>
        <p:blipFill>
          <a:blip r:embed="rId3"/>
          <a:stretch>
            <a:fillRect/>
          </a:stretch>
        </p:blipFill>
        <p:spPr>
          <a:xfrm>
            <a:off x="548640" y="1417320"/>
            <a:ext cx="7589520" cy="3883010"/>
          </a:xfrm>
          <a:prstGeom prst="rect">
            <a:avLst/>
          </a:prstGeom>
        </p:spPr>
      </p:pic>
      <p:sp>
        <p:nvSpPr>
          <p:cNvPr id="7" name="TextBox 6"/>
          <p:cNvSpPr txBox="1"/>
          <p:nvPr/>
        </p:nvSpPr>
        <p:spPr>
          <a:xfrm>
            <a:off x="8412480" y="1554480"/>
            <a:ext cx="3474720" cy="4572000"/>
          </a:xfrm>
          <a:prstGeom prst="rect">
            <a:avLst/>
          </a:prstGeom>
          <a:noFill/>
        </p:spPr>
        <p:txBody>
          <a:bodyPr wrap="square">
            <a:spAutoFit/>
          </a:bodyPr>
          <a:lstStyle/>
          <a:p>
            <a:pPr>
              <a:spcAft>
                <a:spcPts val="1000"/>
              </a:spcAft>
            </a:pPr>
            <a:r>
              <a:rPr sz="1500" b="1">
                <a:solidFill>
                  <a:srgbClr val="0B0B0B"/>
                </a:solidFill>
                <a:latin typeface="Segoe UI"/>
              </a:rPr>
              <a:t>2,792 → 600 </a:t>
            </a:r>
            <a:r>
              <a:rPr sz="1500">
                <a:solidFill>
                  <a:srgbClr val="52514E"/>
                </a:solidFill>
                <a:latin typeface="Segoe UI"/>
              </a:rPr>
              <a:t>VIIRS fire alerts in the district</a:t>
            </a:r>
          </a:p>
          <a:p>
            <a:pPr>
              <a:spcAft>
                <a:spcPts val="1000"/>
              </a:spcAft>
            </a:pPr>
            <a:r>
              <a:rPr sz="1500" b="1">
                <a:solidFill>
                  <a:srgbClr val="0B0B0B"/>
                </a:solidFill>
                <a:latin typeface="Segoe UI"/>
              </a:rPr>
              <a:t>7,883 → 7,930 ha </a:t>
            </a:r>
            <a:r>
              <a:rPr sz="1500">
                <a:solidFill>
                  <a:srgbClr val="52514E"/>
                </a:solidFill>
                <a:latin typeface="Segoe UI"/>
              </a:rPr>
              <a:t>strict-tier burn-scar candidate area (index 101)</a:t>
            </a:r>
          </a:p>
          <a:p>
            <a:pPr>
              <a:spcAft>
                <a:spcPts val="1000"/>
              </a:spcAft>
            </a:pPr>
            <a:r>
              <a:rPr sz="1500" b="1">
                <a:solidFill>
                  <a:srgbClr val="0B0B0B"/>
                </a:solidFill>
                <a:latin typeface="Segoe UI"/>
              </a:rPr>
              <a:t>2.3 → 11.88 </a:t>
            </a:r>
            <a:r>
              <a:rPr sz="1500">
                <a:solidFill>
                  <a:srgbClr val="52514E"/>
                </a:solidFill>
                <a:latin typeface="Segoe UI"/>
              </a:rPr>
              <a:t>burned fields per fire alert</a:t>
            </a:r>
          </a:p>
          <a:p>
            <a:pPr>
              <a:spcAft>
                <a:spcPts val="1000"/>
              </a:spcAft>
            </a:pPr>
            <a:r>
              <a:rPr sz="1500" b="1">
                <a:solidFill>
                  <a:srgbClr val="0B0B0B"/>
                </a:solidFill>
                <a:latin typeface="Segoe UI"/>
              </a:rPr>
              <a:t>Same revisit, </a:t>
            </a:r>
            <a:r>
              <a:rPr sz="1500">
                <a:solidFill>
                  <a:srgbClr val="52514E"/>
                </a:solidFill>
                <a:latin typeface="Segoe UI"/>
              </a:rPr>
              <a:t>same thresholds, same fields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FINDING 2</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9 in 10 strict-tier burn candidates in 2025 raised no fire alert</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Strict burns observed within ≤5 days; VIIRS within 500 m. Control: unburned fields with the same windows. Smoke panel: 2023 season.</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5</a:t>
            </a:r>
          </a:p>
        </p:txBody>
      </p:sp>
      <p:pic>
        <p:nvPicPr>
          <p:cNvPr id="6" name="Picture 5" descr="f2_blind_spot.png"/>
          <p:cNvPicPr>
            <a:picLocks noChangeAspect="1"/>
          </p:cNvPicPr>
          <p:nvPr/>
        </p:nvPicPr>
        <p:blipFill>
          <a:blip r:embed="rId3"/>
          <a:stretch>
            <a:fillRect/>
          </a:stretch>
        </p:blipFill>
        <p:spPr>
          <a:xfrm>
            <a:off x="548640" y="1417320"/>
            <a:ext cx="5669280" cy="3149600"/>
          </a:xfrm>
          <a:prstGeom prst="rect">
            <a:avLst/>
          </a:prstGeom>
        </p:spPr>
      </p:pic>
      <p:pic>
        <p:nvPicPr>
          <p:cNvPr id="7" name="Picture 6" descr="f3_smoke_blindness.png"/>
          <p:cNvPicPr>
            <a:picLocks noChangeAspect="1"/>
          </p:cNvPicPr>
          <p:nvPr/>
        </p:nvPicPr>
        <p:blipFill>
          <a:blip r:embed="rId4"/>
          <a:stretch>
            <a:fillRect/>
          </a:stretch>
        </p:blipFill>
        <p:spPr>
          <a:xfrm>
            <a:off x="6400800" y="1417320"/>
            <a:ext cx="5303520" cy="3683000"/>
          </a:xfrm>
          <a:prstGeom prst="rect">
            <a:avLst/>
          </a:prstGeom>
        </p:spPr>
      </p:pic>
      <p:sp>
        <p:nvSpPr>
          <p:cNvPr id="8" name="TextBox 7"/>
          <p:cNvSpPr txBox="1"/>
          <p:nvPr/>
        </p:nvSpPr>
        <p:spPr>
          <a:xfrm>
            <a:off x="548640" y="4800600"/>
            <a:ext cx="5669280" cy="1463040"/>
          </a:xfrm>
          <a:prstGeom prst="rect">
            <a:avLst/>
          </a:prstGeom>
          <a:noFill/>
        </p:spPr>
        <p:txBody>
          <a:bodyPr wrap="square">
            <a:spAutoFit/>
          </a:bodyPr>
          <a:lstStyle/>
          <a:p>
            <a:pPr>
              <a:spcAft>
                <a:spcPts val="1000"/>
              </a:spcAft>
            </a:pPr>
            <a:r>
              <a:rPr sz="1400" b="1">
                <a:solidFill>
                  <a:srgbClr val="0B0B0B"/>
                </a:solidFill>
                <a:latin typeface="Segoe UI"/>
              </a:rPr>
              <a:t>34% → 8% </a:t>
            </a:r>
            <a:r>
              <a:rPr sz="1400">
                <a:solidFill>
                  <a:srgbClr val="52514E"/>
                </a:solidFill>
                <a:latin typeface="Segoe UI"/>
              </a:rPr>
              <a:t>strict-tier burn candidates with any VIIRS alert (control 4%)</a:t>
            </a:r>
          </a:p>
          <a:p>
            <a:pPr>
              <a:spcAft>
                <a:spcPts val="1000"/>
              </a:spcAft>
            </a:pPr>
            <a:r>
              <a:rPr sz="1400" b="1">
                <a:solidFill>
                  <a:srgbClr val="0B0B0B"/>
                </a:solidFill>
                <a:latin typeface="Segoe UI"/>
              </a:rPr>
              <a:t>Independent of iFOREST: </a:t>
            </a:r>
            <a:r>
              <a:rPr sz="1400">
                <a:solidFill>
                  <a:srgbClr val="52514E"/>
                </a:solidFill>
                <a:latin typeface="Segoe UI"/>
              </a:rPr>
              <a:t>field-level evidence of after-overpass burning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METHOD RIGOUR</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Harvest-aware detection, independently checked</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Key &amp; Benson (2006) dNBR thresholds; Olofsson et al. (2014) stratified estimator; validation tool in reports/research/label_tool.</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6</a:t>
            </a:r>
          </a:p>
        </p:txBody>
      </p:sp>
      <p:pic>
        <p:nvPicPr>
          <p:cNvPr id="6" name="Picture 5" descr="f4_naive_vs_aware.png"/>
          <p:cNvPicPr>
            <a:picLocks noChangeAspect="1"/>
          </p:cNvPicPr>
          <p:nvPr/>
        </p:nvPicPr>
        <p:blipFill>
          <a:blip r:embed="rId3"/>
          <a:stretch>
            <a:fillRect/>
          </a:stretch>
        </p:blipFill>
        <p:spPr>
          <a:xfrm>
            <a:off x="548640" y="1417320"/>
            <a:ext cx="6035040" cy="3017520"/>
          </a:xfrm>
          <a:prstGeom prst="rect">
            <a:avLst/>
          </a:prstGeom>
        </p:spPr>
      </p:pic>
      <p:sp>
        <p:nvSpPr>
          <p:cNvPr id="7" name="TextBox 6"/>
          <p:cNvSpPr txBox="1"/>
          <p:nvPr/>
        </p:nvSpPr>
        <p:spPr>
          <a:xfrm>
            <a:off x="6858000" y="1463040"/>
            <a:ext cx="4937760" cy="4754880"/>
          </a:xfrm>
          <a:prstGeom prst="rect">
            <a:avLst/>
          </a:prstGeom>
          <a:noFill/>
        </p:spPr>
        <p:txBody>
          <a:bodyPr wrap="square">
            <a:spAutoFit/>
          </a:bodyPr>
          <a:lstStyle/>
          <a:p>
            <a:pPr>
              <a:spcAft>
                <a:spcPts val="1000"/>
              </a:spcAft>
            </a:pPr>
            <a:r>
              <a:rPr sz="1300" b="1">
                <a:solidFill>
                  <a:srgbClr val="0B0B0B"/>
                </a:solidFill>
                <a:latin typeface="Segoe UI"/>
              </a:rPr>
              <a:t>Smoke-robust: </a:t>
            </a:r>
            <a:r>
              <a:rPr sz="1300">
                <a:solidFill>
                  <a:srgbClr val="52514E"/>
                </a:solidFill>
                <a:latin typeface="Segoe UI"/>
              </a:rPr>
              <a:t>NIR/SWIR logic; Sen2Cor misses smoke haze</a:t>
            </a:r>
          </a:p>
          <a:p>
            <a:pPr>
              <a:spcAft>
                <a:spcPts val="1000"/>
              </a:spcAft>
            </a:pPr>
            <a:r>
              <a:rPr sz="1300" b="1">
                <a:solidFill>
                  <a:srgbClr val="0B0B0B"/>
                </a:solidFill>
                <a:latin typeface="Segoe UI"/>
              </a:rPr>
              <a:t>Wet-soil rejection: </a:t>
            </a:r>
            <a:r>
              <a:rPr sz="1300">
                <a:solidFill>
                  <a:srgbClr val="52514E"/>
                </a:solidFill>
                <a:latin typeface="Segoe UI"/>
              </a:rPr>
              <a:t>irrigated soil keeps a positive NBR, char does not</a:t>
            </a:r>
          </a:p>
          <a:p>
            <a:pPr>
              <a:spcAft>
                <a:spcPts val="1000"/>
              </a:spcAft>
            </a:pPr>
            <a:r>
              <a:rPr sz="1300" b="1">
                <a:solidFill>
                  <a:srgbClr val="0B0B0B"/>
                </a:solidFill>
                <a:latin typeface="Segoe UI"/>
              </a:rPr>
              <a:t>Thermal recall: </a:t>
            </a:r>
            <a:r>
              <a:rPr sz="1300">
                <a:solidFill>
                  <a:srgbClr val="52514E"/>
                </a:solidFill>
                <a:latin typeface="Segoe UI"/>
              </a:rPr>
              <a:t>67% / 53% / 64% of VIIRS alerts have a Sentinel-2 burn within 500 m (2023/24/25)</a:t>
            </a:r>
          </a:p>
          <a:p>
            <a:pPr>
              <a:spcAft>
                <a:spcPts val="1000"/>
              </a:spcAft>
            </a:pPr>
            <a:r>
              <a:rPr sz="1300" b="1">
                <a:solidFill>
                  <a:srgbClr val="0B0B0B"/>
                </a:solidFill>
                <a:latin typeface="Segoe UI"/>
              </a:rPr>
              <a:t>Controls and sensitivity: </a:t>
            </a:r>
            <a:r>
              <a:rPr sz="1300">
                <a:solidFill>
                  <a:srgbClr val="52514E"/>
                </a:solidFill>
                <a:latin typeface="Segoe UI"/>
              </a:rPr>
              <a:t>proximity controls; radius 375–1,000 m; harmonised revisit</a:t>
            </a:r>
          </a:p>
          <a:p>
            <a:pPr>
              <a:spcAft>
                <a:spcPts val="1000"/>
              </a:spcAft>
            </a:pPr>
            <a:r>
              <a:rPr sz="1300" b="1">
                <a:solidFill>
                  <a:srgbClr val="0B0B0B"/>
                </a:solidFill>
                <a:latin typeface="Segoe UI"/>
              </a:rPr>
              <a:t>Human validation: </a:t>
            </a:r>
            <a:r>
              <a:rPr sz="1300">
                <a:solidFill>
                  <a:srgbClr val="52514E"/>
                </a:solidFill>
                <a:latin typeface="Segoe UI"/>
              </a:rPr>
              <a:t>stratified, blind before/after labelling tool → precision, recall, area with 95% CI</a:t>
            </a:r>
          </a:p>
          <a:p>
            <a:pPr>
              <a:spcAft>
                <a:spcPts val="1000"/>
              </a:spcAft>
            </a:pPr>
            <a:r>
              <a:rPr sz="1300" b="1">
                <a:solidFill>
                  <a:srgbClr val="0B0B0B"/>
                </a:solidFill>
                <a:latin typeface="Segoe UI"/>
              </a:rPr>
              <a:t>Bug found and fixed: </a:t>
            </a:r>
            <a:r>
              <a:rPr sz="1300">
                <a:solidFill>
                  <a:srgbClr val="52514E"/>
                </a:solidFill>
                <a:latin typeface="Segoe UI"/>
              </a:rPr>
              <a:t>missing −1000 DN reflectance offset inflated reflectance by 0.10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FINDING 3</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Burning clusters, persists, and leaves about a two-week window</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Left: 2025 burn tiers per field with VIIRS alerts. Right: days from first harvested to first char observation (2025, interval-censored).</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7</a:t>
            </a:r>
          </a:p>
        </p:txBody>
      </p:sp>
      <p:pic>
        <p:nvPicPr>
          <p:cNvPr id="6" name="Picture 5" descr="f8_burn_map_2025.png"/>
          <p:cNvPicPr>
            <a:picLocks noChangeAspect="1"/>
          </p:cNvPicPr>
          <p:nvPr/>
        </p:nvPicPr>
        <p:blipFill>
          <a:blip r:embed="rId3"/>
          <a:stretch>
            <a:fillRect/>
          </a:stretch>
        </p:blipFill>
        <p:spPr>
          <a:xfrm>
            <a:off x="457200" y="1280160"/>
            <a:ext cx="3742660" cy="5029200"/>
          </a:xfrm>
          <a:prstGeom prst="rect">
            <a:avLst/>
          </a:prstGeom>
        </p:spPr>
      </p:pic>
      <p:pic>
        <p:nvPicPr>
          <p:cNvPr id="7" name="Picture 6" descr="f5_intervention_window.png"/>
          <p:cNvPicPr>
            <a:picLocks noChangeAspect="1"/>
          </p:cNvPicPr>
          <p:nvPr/>
        </p:nvPicPr>
        <p:blipFill>
          <a:blip r:embed="rId4"/>
          <a:stretch>
            <a:fillRect/>
          </a:stretch>
        </p:blipFill>
        <p:spPr>
          <a:xfrm>
            <a:off x="4389120" y="1325880"/>
            <a:ext cx="6766560" cy="3383280"/>
          </a:xfrm>
          <a:prstGeom prst="rect">
            <a:avLst/>
          </a:prstGeom>
        </p:spPr>
      </p:pic>
      <p:sp>
        <p:nvSpPr>
          <p:cNvPr id="8" name="TextBox 7"/>
          <p:cNvSpPr txBox="1"/>
          <p:nvPr/>
        </p:nvSpPr>
        <p:spPr>
          <a:xfrm>
            <a:off x="4480560" y="4846320"/>
            <a:ext cx="7315200" cy="1554480"/>
          </a:xfrm>
          <a:prstGeom prst="rect">
            <a:avLst/>
          </a:prstGeom>
          <a:noFill/>
        </p:spPr>
        <p:txBody>
          <a:bodyPr wrap="square">
            <a:spAutoFit/>
          </a:bodyPr>
          <a:lstStyle/>
          <a:p>
            <a:pPr>
              <a:spcAft>
                <a:spcPts val="1000"/>
              </a:spcAft>
            </a:pPr>
            <a:r>
              <a:rPr sz="1400" b="1">
                <a:solidFill>
                  <a:srgbClr val="0B0B0B"/>
                </a:solidFill>
                <a:latin typeface="Segoe UI"/>
              </a:rPr>
              <a:t>15 days </a:t>
            </a:r>
            <a:r>
              <a:rPr sz="1400">
                <a:solidFill>
                  <a:srgbClr val="52514E"/>
                </a:solidFill>
                <a:latin typeface="Segoe UI"/>
              </a:rPr>
              <a:t>median harvest → fire window (2025)</a:t>
            </a:r>
          </a:p>
          <a:p>
            <a:pPr>
              <a:spcAft>
                <a:spcPts val="1000"/>
              </a:spcAft>
            </a:pPr>
            <a:r>
              <a:rPr sz="1400" b="1">
                <a:solidFill>
                  <a:srgbClr val="0B0B0B"/>
                </a:solidFill>
                <a:latin typeface="Segoe UI"/>
              </a:rPr>
              <a:t>30% vs 12% </a:t>
            </a:r>
            <a:r>
              <a:rPr sz="1400">
                <a:solidFill>
                  <a:srgbClr val="52514E"/>
                </a:solidFill>
                <a:latin typeface="Segoe UI"/>
              </a:rPr>
              <a:t>burn again if burned last year vs not</a:t>
            </a:r>
          </a:p>
          <a:p>
            <a:pPr>
              <a:spcAft>
                <a:spcPts val="1000"/>
              </a:spcAft>
            </a:pPr>
            <a:r>
              <a:rPr sz="1400" b="1">
                <a:solidFill>
                  <a:srgbClr val="0B0B0B"/>
                </a:solidFill>
                <a:latin typeface="Segoe UI"/>
              </a:rPr>
              <a:t>4.6% of fields </a:t>
            </a:r>
            <a:r>
              <a:rPr sz="1400">
                <a:solidFill>
                  <a:srgbClr val="52514E"/>
                </a:solidFill>
                <a:latin typeface="Segoe UI"/>
              </a:rPr>
              <a:t>burned in 2+ seasons and did 34% of all burning (2023–25)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FINDING 4 · SAME 100 BALERS, SMARTER ORDER</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Risk-ranked dispatch pre-empts 2.6× more burns</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Season-replay digital twin on real 2025 events; 4 ha/baler/day; ERA5 rain days skipped; assumes baling prevents burning. Emissions: Andreae (2019), IPCC AR6 GWP100.</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8</a:t>
            </a:r>
          </a:p>
        </p:txBody>
      </p:sp>
      <p:pic>
        <p:nvPicPr>
          <p:cNvPr id="6" name="Picture 5" descr="f6_replay.png"/>
          <p:cNvPicPr>
            <a:picLocks noChangeAspect="1"/>
          </p:cNvPicPr>
          <p:nvPr/>
        </p:nvPicPr>
        <p:blipFill>
          <a:blip r:embed="rId3"/>
          <a:stretch>
            <a:fillRect/>
          </a:stretch>
        </p:blipFill>
        <p:spPr>
          <a:xfrm>
            <a:off x="548640" y="1417320"/>
            <a:ext cx="6766560" cy="3947160"/>
          </a:xfrm>
          <a:prstGeom prst="rect">
            <a:avLst/>
          </a:prstGeom>
        </p:spPr>
      </p:pic>
      <p:sp>
        <p:nvSpPr>
          <p:cNvPr id="7" name="TextBox 6"/>
          <p:cNvSpPr txBox="1"/>
          <p:nvPr/>
        </p:nvSpPr>
        <p:spPr>
          <a:xfrm>
            <a:off x="7589520" y="1554480"/>
            <a:ext cx="4206240" cy="4572000"/>
          </a:xfrm>
          <a:prstGeom prst="rect">
            <a:avLst/>
          </a:prstGeom>
          <a:noFill/>
        </p:spPr>
        <p:txBody>
          <a:bodyPr wrap="square">
            <a:spAutoFit/>
          </a:bodyPr>
          <a:lstStyle/>
          <a:p>
            <a:pPr>
              <a:spcAft>
                <a:spcPts val="1000"/>
              </a:spcAft>
            </a:pPr>
            <a:r>
              <a:rPr sz="1400" b="1">
                <a:solidFill>
                  <a:srgbClr val="0B0B0B"/>
                </a:solidFill>
                <a:latin typeface="Segoe UI"/>
              </a:rPr>
              <a:t>11.4% vs 4.3% </a:t>
            </a:r>
            <a:r>
              <a:rPr sz="1400">
                <a:solidFill>
                  <a:srgbClr val="52514E"/>
                </a:solidFill>
                <a:latin typeface="Segoe UI"/>
              </a:rPr>
              <a:t>burns pre-empted, 100 balers</a:t>
            </a:r>
          </a:p>
          <a:p>
            <a:pPr>
              <a:spcAft>
                <a:spcPts val="1000"/>
              </a:spcAft>
            </a:pPr>
            <a:r>
              <a:rPr sz="1400" b="1">
                <a:solidFill>
                  <a:srgbClr val="0B0B0B"/>
                </a:solidFill>
                <a:latin typeface="Segoe UI"/>
              </a:rPr>
              <a:t>1,859 t CO₂e </a:t>
            </a:r>
            <a:r>
              <a:rPr sz="1400">
                <a:solidFill>
                  <a:srgbClr val="52514E"/>
                </a:solidFill>
                <a:latin typeface="Segoe UI"/>
              </a:rPr>
              <a:t>CH₄+N₂O avoided (90%: 328–4,849)</a:t>
            </a:r>
          </a:p>
          <a:p>
            <a:pPr>
              <a:spcAft>
                <a:spcPts val="1000"/>
              </a:spcAft>
            </a:pPr>
            <a:r>
              <a:rPr sz="1400" b="1">
                <a:solidFill>
                  <a:srgbClr val="0B0B0B"/>
                </a:solidFill>
                <a:latin typeface="Segoe UI"/>
              </a:rPr>
              <a:t>85 t PM2.5 </a:t>
            </a:r>
            <a:r>
              <a:rPr sz="1400">
                <a:solidFill>
                  <a:srgbClr val="52514E"/>
                </a:solidFill>
                <a:latin typeface="Segoe UI"/>
              </a:rPr>
              <a:t>and 4.4 t black carbon avoided</a:t>
            </a:r>
          </a:p>
          <a:p>
            <a:pPr>
              <a:spcAft>
                <a:spcPts val="1000"/>
              </a:spcAft>
            </a:pPr>
            <a:r>
              <a:rPr sz="1400" b="1">
                <a:solidFill>
                  <a:srgbClr val="0B0B0B"/>
                </a:solidFill>
                <a:latin typeface="Segoe UI"/>
              </a:rPr>
              <a:t>₹11.73 crore </a:t>
            </a:r>
            <a:r>
              <a:rPr sz="1400">
                <a:solidFill>
                  <a:srgbClr val="52514E"/>
                </a:solidFill>
                <a:latin typeface="Segoe UI"/>
              </a:rPr>
              <a:t>of straw baled by the fleet at ₹169/quintal</a:t>
            </a:r>
          </a:p>
          <a:p>
            <a:pPr>
              <a:spcAft>
                <a:spcPts val="1000"/>
              </a:spcAft>
            </a:pPr>
            <a:r>
              <a:rPr sz="1400" b="1">
                <a:solidFill>
                  <a:srgbClr val="0B0B0B"/>
                </a:solidFill>
                <a:latin typeface="Segoe UI"/>
              </a:rPr>
              <a:t>Top decile = 2.7× lift </a:t>
            </a:r>
            <a:r>
              <a:rPr sz="1400">
                <a:solidFill>
                  <a:srgbClr val="52514E"/>
                </a:solidFill>
                <a:latin typeface="Segoe UI"/>
              </a:rPr>
              <a:t>on the unseen 2025 season (pre-season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LIVE NOWCAST</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Live: Muktsar 2026, as of this week's satellite pass</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Latest Sentinel-2 image 2026-10-03. Forecast = typical (2023–2025) harvest pace; baleable straw 3.3 t/ha.</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9</a:t>
            </a:r>
          </a:p>
        </p:txBody>
      </p:sp>
      <p:pic>
        <p:nvPicPr>
          <p:cNvPr id="6" name="Picture 5" descr="f7_nowcast_2026.png"/>
          <p:cNvPicPr>
            <a:picLocks noChangeAspect="1"/>
          </p:cNvPicPr>
          <p:nvPr/>
        </p:nvPicPr>
        <p:blipFill>
          <a:blip r:embed="rId3"/>
          <a:stretch>
            <a:fillRect/>
          </a:stretch>
        </p:blipFill>
        <p:spPr>
          <a:xfrm>
            <a:off x="548640" y="1417320"/>
            <a:ext cx="6583680" cy="3657600"/>
          </a:xfrm>
          <a:prstGeom prst="rect">
            <a:avLst/>
          </a:prstGeom>
        </p:spPr>
      </p:pic>
      <p:graphicFrame>
        <p:nvGraphicFramePr>
          <p:cNvPr id="7" name="Table 6"/>
          <p:cNvGraphicFramePr>
            <a:graphicFrameLocks noGrp="1"/>
          </p:cNvGraphicFramePr>
          <p:nvPr/>
        </p:nvGraphicFramePr>
        <p:xfrm>
          <a:off x="7406640" y="1508760"/>
          <a:ext cx="4389120" cy="2304288"/>
        </p:xfrm>
        <a:graphic>
          <a:graphicData uri="http://schemas.openxmlformats.org/drawingml/2006/table">
            <a:tbl>
              <a:tblPr firstRow="1" bandRow="1">
                <a:tableStyleId>{5C22544A-7EE6-4342-B048-85BDC9FD1C3A}</a:tableStyleId>
              </a:tblPr>
              <a:tblGrid>
                <a:gridCol w="1463040"/>
                <a:gridCol w="1463040"/>
                <a:gridCol w="1463040"/>
              </a:tblGrid>
              <a:tr h="329184">
                <a:tc>
                  <a:txBody>
                    <a:bodyPr/>
                    <a:lstStyle/>
                    <a:p>
                      <a:r>
                        <a:rPr sz="1100" b="1">
                          <a:solidFill>
                            <a:srgbClr val="FFFFFF"/>
                          </a:solidFill>
                          <a:latin typeface="Segoe UI"/>
                        </a:rPr>
                        <a:t>Week of</a:t>
                      </a:r>
                    </a:p>
                  </a:txBody>
                  <a:tcPr>
                    <a:solidFill>
                      <a:srgbClr val="1D3D2B"/>
                    </a:solidFill>
                  </a:tcPr>
                </a:tc>
                <a:tc>
                  <a:txBody>
                    <a:bodyPr/>
                    <a:lstStyle/>
                    <a:p>
                      <a:r>
                        <a:rPr sz="1100" b="1">
                          <a:solidFill>
                            <a:srgbClr val="FFFFFF"/>
                          </a:solidFill>
                          <a:latin typeface="Segoe UI"/>
                        </a:rPr>
                        <a:t>Expected harvest</a:t>
                      </a:r>
                    </a:p>
                  </a:txBody>
                  <a:tcPr>
                    <a:solidFill>
                      <a:srgbClr val="1D3D2B"/>
                    </a:solidFill>
                  </a:tcPr>
                </a:tc>
                <a:tc>
                  <a:txBody>
                    <a:bodyPr/>
                    <a:lstStyle/>
                    <a:p>
                      <a:r>
                        <a:rPr sz="1100" b="1">
                          <a:solidFill>
                            <a:srgbClr val="FFFFFF"/>
                          </a:solidFill>
                          <a:latin typeface="Segoe UI"/>
                        </a:rPr>
                        <a:t>Baleable straw</a:t>
                      </a:r>
                    </a:p>
                  </a:txBody>
                  <a:tcPr>
                    <a:solidFill>
                      <a:srgbClr val="1D3D2B"/>
                    </a:solidFill>
                  </a:tcPr>
                </a:tc>
              </a:tr>
              <a:tr h="329184">
                <a:tc>
                  <a:txBody>
                    <a:bodyPr/>
                    <a:lstStyle/>
                    <a:p>
                      <a:r>
                        <a:rPr sz="1100" b="0">
                          <a:solidFill>
                            <a:srgbClr val="0B0B0B"/>
                          </a:solidFill>
                          <a:latin typeface="Segoe UI"/>
                        </a:rPr>
                        <a:t>10-03</a:t>
                      </a:r>
                    </a:p>
                  </a:txBody>
                  <a:tcPr>
                    <a:solidFill>
                      <a:srgbClr val="FFFFFF"/>
                    </a:solidFill>
                  </a:tcPr>
                </a:tc>
                <a:tc>
                  <a:txBody>
                    <a:bodyPr/>
                    <a:lstStyle/>
                    <a:p>
                      <a:r>
                        <a:rPr sz="1100" b="0">
                          <a:solidFill>
                            <a:srgbClr val="0B0B0B"/>
                          </a:solidFill>
                          <a:latin typeface="Segoe UI"/>
                        </a:rPr>
                        <a:t>4,284 ha</a:t>
                      </a:r>
                    </a:p>
                  </a:txBody>
                  <a:tcPr>
                    <a:solidFill>
                      <a:srgbClr val="FFFFFF"/>
                    </a:solidFill>
                  </a:tcPr>
                </a:tc>
                <a:tc>
                  <a:txBody>
                    <a:bodyPr/>
                    <a:lstStyle/>
                    <a:p>
                      <a:r>
                        <a:rPr sz="1100" b="0">
                          <a:solidFill>
                            <a:srgbClr val="0B0B0B"/>
                          </a:solidFill>
                          <a:latin typeface="Segoe UI"/>
                        </a:rPr>
                        <a:t>14,136 t</a:t>
                      </a:r>
                    </a:p>
                  </a:txBody>
                  <a:tcPr>
                    <a:solidFill>
                      <a:srgbClr val="FFFFFF"/>
                    </a:solidFill>
                  </a:tcPr>
                </a:tc>
              </a:tr>
              <a:tr h="329184">
                <a:tc>
                  <a:txBody>
                    <a:bodyPr/>
                    <a:lstStyle/>
                    <a:p>
                      <a:r>
                        <a:rPr sz="1100" b="0">
                          <a:solidFill>
                            <a:srgbClr val="0B0B0B"/>
                          </a:solidFill>
                          <a:latin typeface="Segoe UI"/>
                        </a:rPr>
                        <a:t>10-10</a:t>
                      </a:r>
                    </a:p>
                  </a:txBody>
                  <a:tcPr>
                    <a:solidFill>
                      <a:srgbClr val="F0F4EF"/>
                    </a:solidFill>
                  </a:tcPr>
                </a:tc>
                <a:tc>
                  <a:txBody>
                    <a:bodyPr/>
                    <a:lstStyle/>
                    <a:p>
                      <a:r>
                        <a:rPr sz="1100" b="0">
                          <a:solidFill>
                            <a:srgbClr val="0B0B0B"/>
                          </a:solidFill>
                          <a:latin typeface="Segoe UI"/>
                        </a:rPr>
                        <a:t>17,605 ha</a:t>
                      </a:r>
                    </a:p>
                  </a:txBody>
                  <a:tcPr>
                    <a:solidFill>
                      <a:srgbClr val="F0F4EF"/>
                    </a:solidFill>
                  </a:tcPr>
                </a:tc>
                <a:tc>
                  <a:txBody>
                    <a:bodyPr/>
                    <a:lstStyle/>
                    <a:p>
                      <a:r>
                        <a:rPr sz="1100" b="0">
                          <a:solidFill>
                            <a:srgbClr val="0B0B0B"/>
                          </a:solidFill>
                          <a:latin typeface="Segoe UI"/>
                        </a:rPr>
                        <a:t>58,095 t</a:t>
                      </a:r>
                    </a:p>
                  </a:txBody>
                  <a:tcPr>
                    <a:solidFill>
                      <a:srgbClr val="F0F4EF"/>
                    </a:solidFill>
                  </a:tcPr>
                </a:tc>
              </a:tr>
              <a:tr h="329184">
                <a:tc>
                  <a:txBody>
                    <a:bodyPr/>
                    <a:lstStyle/>
                    <a:p>
                      <a:r>
                        <a:rPr sz="1100" b="0">
                          <a:solidFill>
                            <a:srgbClr val="0B0B0B"/>
                          </a:solidFill>
                          <a:latin typeface="Segoe UI"/>
                        </a:rPr>
                        <a:t>10-17</a:t>
                      </a:r>
                    </a:p>
                  </a:txBody>
                  <a:tcPr>
                    <a:solidFill>
                      <a:srgbClr val="FFFFFF"/>
                    </a:solidFill>
                  </a:tcPr>
                </a:tc>
                <a:tc>
                  <a:txBody>
                    <a:bodyPr/>
                    <a:lstStyle/>
                    <a:p>
                      <a:r>
                        <a:rPr sz="1100" b="0">
                          <a:solidFill>
                            <a:srgbClr val="0B0B0B"/>
                          </a:solidFill>
                          <a:latin typeface="Segoe UI"/>
                        </a:rPr>
                        <a:t>36,572 ha</a:t>
                      </a:r>
                    </a:p>
                  </a:txBody>
                  <a:tcPr>
                    <a:solidFill>
                      <a:srgbClr val="FFFFFF"/>
                    </a:solidFill>
                  </a:tcPr>
                </a:tc>
                <a:tc>
                  <a:txBody>
                    <a:bodyPr/>
                    <a:lstStyle/>
                    <a:p>
                      <a:r>
                        <a:rPr sz="1100" b="0">
                          <a:solidFill>
                            <a:srgbClr val="0B0B0B"/>
                          </a:solidFill>
                          <a:latin typeface="Segoe UI"/>
                        </a:rPr>
                        <a:t>120,687 t</a:t>
                      </a:r>
                    </a:p>
                  </a:txBody>
                  <a:tcPr>
                    <a:solidFill>
                      <a:srgbClr val="FFFFFF"/>
                    </a:solidFill>
                  </a:tcPr>
                </a:tc>
              </a:tr>
              <a:tr h="329184">
                <a:tc>
                  <a:txBody>
                    <a:bodyPr/>
                    <a:lstStyle/>
                    <a:p>
                      <a:r>
                        <a:rPr sz="1100" b="0">
                          <a:solidFill>
                            <a:srgbClr val="0B0B0B"/>
                          </a:solidFill>
                          <a:latin typeface="Segoe UI"/>
                        </a:rPr>
                        <a:t>10-24</a:t>
                      </a:r>
                    </a:p>
                  </a:txBody>
                  <a:tcPr>
                    <a:solidFill>
                      <a:srgbClr val="F0F4EF"/>
                    </a:solidFill>
                  </a:tcPr>
                </a:tc>
                <a:tc>
                  <a:txBody>
                    <a:bodyPr/>
                    <a:lstStyle/>
                    <a:p>
                      <a:r>
                        <a:rPr sz="1100" b="0">
                          <a:solidFill>
                            <a:srgbClr val="0B0B0B"/>
                          </a:solidFill>
                          <a:latin typeface="Segoe UI"/>
                        </a:rPr>
                        <a:t>50,835 ha</a:t>
                      </a:r>
                    </a:p>
                  </a:txBody>
                  <a:tcPr>
                    <a:solidFill>
                      <a:srgbClr val="F0F4EF"/>
                    </a:solidFill>
                  </a:tcPr>
                </a:tc>
                <a:tc>
                  <a:txBody>
                    <a:bodyPr/>
                    <a:lstStyle/>
                    <a:p>
                      <a:r>
                        <a:rPr sz="1100" b="0">
                          <a:solidFill>
                            <a:srgbClr val="0B0B0B"/>
                          </a:solidFill>
                          <a:latin typeface="Segoe UI"/>
                        </a:rPr>
                        <a:t>167,755 t</a:t>
                      </a:r>
                    </a:p>
                  </a:txBody>
                  <a:tcPr>
                    <a:solidFill>
                      <a:srgbClr val="F0F4EF"/>
                    </a:solidFill>
                  </a:tcPr>
                </a:tc>
              </a:tr>
              <a:tr h="329184">
                <a:tc>
                  <a:txBody>
                    <a:bodyPr/>
                    <a:lstStyle/>
                    <a:p>
                      <a:r>
                        <a:rPr sz="1100" b="0">
                          <a:solidFill>
                            <a:srgbClr val="0B0B0B"/>
                          </a:solidFill>
                          <a:latin typeface="Segoe UI"/>
                        </a:rPr>
                        <a:t>10-31</a:t>
                      </a:r>
                    </a:p>
                  </a:txBody>
                  <a:tcPr>
                    <a:solidFill>
                      <a:srgbClr val="FFFFFF"/>
                    </a:solidFill>
                  </a:tcPr>
                </a:tc>
                <a:tc>
                  <a:txBody>
                    <a:bodyPr/>
                    <a:lstStyle/>
                    <a:p>
                      <a:r>
                        <a:rPr sz="1100" b="0">
                          <a:solidFill>
                            <a:srgbClr val="0B0B0B"/>
                          </a:solidFill>
                          <a:latin typeface="Segoe UI"/>
                        </a:rPr>
                        <a:t>27,075 ha</a:t>
                      </a:r>
                    </a:p>
                  </a:txBody>
                  <a:tcPr>
                    <a:solidFill>
                      <a:srgbClr val="FFFFFF"/>
                    </a:solidFill>
                  </a:tcPr>
                </a:tc>
                <a:tc>
                  <a:txBody>
                    <a:bodyPr/>
                    <a:lstStyle/>
                    <a:p>
                      <a:r>
                        <a:rPr sz="1100" b="0">
                          <a:solidFill>
                            <a:srgbClr val="0B0B0B"/>
                          </a:solidFill>
                          <a:latin typeface="Segoe UI"/>
                        </a:rPr>
                        <a:t>89,349 t</a:t>
                      </a:r>
                    </a:p>
                  </a:txBody>
                  <a:tcPr>
                    <a:solidFill>
                      <a:srgbClr val="FFFFFF"/>
                    </a:solidFill>
                  </a:tcPr>
                </a:tc>
              </a:tr>
              <a:tr h="329184">
                <a:tc>
                  <a:txBody>
                    <a:bodyPr/>
                    <a:lstStyle/>
                    <a:p>
                      <a:r>
                        <a:rPr sz="1100" b="0">
                          <a:solidFill>
                            <a:srgbClr val="0B0B0B"/>
                          </a:solidFill>
                          <a:latin typeface="Segoe UI"/>
                        </a:rPr>
                        <a:t>11-07</a:t>
                      </a:r>
                    </a:p>
                  </a:txBody>
                  <a:tcPr>
                    <a:solidFill>
                      <a:srgbClr val="F0F4EF"/>
                    </a:solidFill>
                  </a:tcPr>
                </a:tc>
                <a:tc>
                  <a:txBody>
                    <a:bodyPr/>
                    <a:lstStyle/>
                    <a:p>
                      <a:r>
                        <a:rPr sz="1100" b="0">
                          <a:solidFill>
                            <a:srgbClr val="0B0B0B"/>
                          </a:solidFill>
                          <a:latin typeface="Segoe UI"/>
                        </a:rPr>
                        <a:t>12,534 ha</a:t>
                      </a:r>
                    </a:p>
                  </a:txBody>
                  <a:tcPr>
                    <a:solidFill>
                      <a:srgbClr val="F0F4EF"/>
                    </a:solidFill>
                  </a:tcPr>
                </a:tc>
                <a:tc>
                  <a:txBody>
                    <a:bodyPr/>
                    <a:lstStyle/>
                    <a:p>
                      <a:r>
                        <a:rPr sz="1100" b="0">
                          <a:solidFill>
                            <a:srgbClr val="0B0B0B"/>
                          </a:solidFill>
                          <a:latin typeface="Segoe UI"/>
                        </a:rPr>
                        <a:t>41,363 t</a:t>
                      </a:r>
                    </a:p>
                  </a:txBody>
                  <a:tcPr>
                    <a:solidFill>
                      <a:srgbClr val="F0F4EF"/>
                    </a:solidFill>
                  </a:tcPr>
                </a:tc>
              </a:tr>
            </a:tbl>
          </a:graphicData>
        </a:graphic>
      </p:graphicFrame>
      <p:sp>
        <p:nvSpPr>
          <p:cNvPr id="8" name="TextBox 7"/>
          <p:cNvSpPr txBox="1"/>
          <p:nvPr/>
        </p:nvSpPr>
        <p:spPr>
          <a:xfrm>
            <a:off x="7406640" y="4206240"/>
            <a:ext cx="4389120" cy="1645920"/>
          </a:xfrm>
          <a:prstGeom prst="rect">
            <a:avLst/>
          </a:prstGeom>
          <a:noFill/>
        </p:spPr>
        <p:txBody>
          <a:bodyPr wrap="square">
            <a:spAutoFit/>
          </a:bodyPr>
          <a:lstStyle/>
          <a:p>
            <a:pPr algn="l">
              <a:spcAft>
                <a:spcPts val="600"/>
              </a:spcAft>
            </a:pPr>
            <a:r>
              <a:rPr sz="1300" b="0">
                <a:solidFill>
                  <a:srgbClr val="52514E"/>
                </a:solidFill>
                <a:latin typeface="Segoe UI"/>
              </a:rPr>
              <a:t>Pre-booking list: top decile = 15,864 fields, 18,399 ha</a:t>
            </a:r>
          </a:p>
          <a:p>
            <a:pPr algn="l">
              <a:spcAft>
                <a:spcPts val="600"/>
              </a:spcAft>
            </a:pPr>
            <a:r>
              <a:rPr sz="1300" b="0">
                <a:solidFill>
                  <a:srgbClr val="52514E"/>
                </a:solidFill>
                <a:latin typeface="Segoe UI"/>
              </a:rPr>
              <a:t>District straw ≈ 11.5 lakh t (published estimate: 12.1 lakh 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THE PRODUCT</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One data backbone for officials, balers, buyers and farmers</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FastAPI + React app; 197 backend tests plus new research tests; real-data mode is read-only; field-level burn data restricted to officials.</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10</a:t>
            </a:r>
          </a:p>
        </p:txBody>
      </p:sp>
      <p:pic>
        <p:nvPicPr>
          <p:cNvPr id="6" name="Picture 5" descr="Research-top-1366.png"/>
          <p:cNvPicPr>
            <a:picLocks noChangeAspect="1"/>
          </p:cNvPicPr>
          <p:nvPr/>
        </p:nvPicPr>
        <p:blipFill>
          <a:blip r:embed="rId3"/>
          <a:stretch>
            <a:fillRect/>
          </a:stretch>
        </p:blipFill>
        <p:spPr>
          <a:xfrm>
            <a:off x="548640" y="1371600"/>
            <a:ext cx="6949440" cy="3907152"/>
          </a:xfrm>
          <a:prstGeom prst="rect">
            <a:avLst/>
          </a:prstGeom>
        </p:spPr>
      </p:pic>
      <p:pic>
        <p:nvPicPr>
          <p:cNvPr id="7" name="Picture 6" descr="_farmer_crop.png"/>
          <p:cNvPicPr>
            <a:picLocks noChangeAspect="1"/>
          </p:cNvPicPr>
          <p:nvPr/>
        </p:nvPicPr>
        <p:blipFill>
          <a:blip r:embed="rId4"/>
          <a:stretch>
            <a:fillRect/>
          </a:stretch>
        </p:blipFill>
        <p:spPr>
          <a:xfrm>
            <a:off x="7772400" y="1371600"/>
            <a:ext cx="2377440" cy="4754880"/>
          </a:xfrm>
          <a:prstGeom prst="rect">
            <a:avLst/>
          </a:prstGeom>
        </p:spPr>
      </p:pic>
      <p:pic>
        <p:nvPicPr>
          <p:cNvPr id="8" name="Picture 7" descr="_cert_crop.png"/>
          <p:cNvPicPr>
            <a:picLocks noChangeAspect="1"/>
          </p:cNvPicPr>
          <p:nvPr/>
        </p:nvPicPr>
        <p:blipFill>
          <a:blip r:embed="rId5"/>
          <a:stretch>
            <a:fillRect/>
          </a:stretch>
        </p:blipFill>
        <p:spPr>
          <a:xfrm>
            <a:off x="10241280" y="1371600"/>
            <a:ext cx="1737360" cy="1089741"/>
          </a:xfrm>
          <a:prstGeom prst="rect">
            <a:avLst/>
          </a:prstGeom>
        </p:spPr>
      </p:pic>
      <p:sp>
        <p:nvSpPr>
          <p:cNvPr id="9" name="TextBox 8"/>
          <p:cNvSpPr txBox="1"/>
          <p:nvPr/>
        </p:nvSpPr>
        <p:spPr>
          <a:xfrm>
            <a:off x="10241280" y="2560320"/>
            <a:ext cx="1737360" cy="1828800"/>
          </a:xfrm>
          <a:prstGeom prst="rect">
            <a:avLst/>
          </a:prstGeom>
          <a:noFill/>
        </p:spPr>
        <p:txBody>
          <a:bodyPr wrap="square">
            <a:spAutoFit/>
          </a:bodyPr>
          <a:lstStyle/>
          <a:p>
            <a:pPr algn="l">
              <a:spcAft>
                <a:spcPts val="600"/>
              </a:spcAft>
            </a:pPr>
            <a:r>
              <a:rPr sz="1100" b="0">
                <a:solidFill>
                  <a:srgbClr val="52514E"/>
                </a:solidFill>
                <a:latin typeface="Segoe UI"/>
              </a:rPr>
              <a:t>Prototype no-burn certificate with QR metadata check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IMPACT AND SCALE</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Waste to wealth at district scale, with no hardware</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Straw price ₹169/quintal (biomass plants, concept note [11]); emission factors Andreae (2019); CO₂e excludes biogenic CO₂.</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11</a:t>
            </a:r>
          </a:p>
        </p:txBody>
      </p:sp>
      <p:sp>
        <p:nvSpPr>
          <p:cNvPr id="6" name="TextBox 5"/>
          <p:cNvSpPr txBox="1"/>
          <p:nvPr/>
        </p:nvSpPr>
        <p:spPr>
          <a:xfrm>
            <a:off x="548640" y="1645920"/>
            <a:ext cx="3657600" cy="822960"/>
          </a:xfrm>
          <a:prstGeom prst="rect">
            <a:avLst/>
          </a:prstGeom>
          <a:noFill/>
        </p:spPr>
        <p:txBody>
          <a:bodyPr wrap="square">
            <a:spAutoFit/>
          </a:bodyPr>
          <a:lstStyle/>
          <a:p>
            <a:pPr algn="l">
              <a:spcAft>
                <a:spcPts val="600"/>
              </a:spcAft>
            </a:pPr>
            <a:r>
              <a:rPr sz="4000" b="1">
                <a:solidFill>
                  <a:srgbClr val="1D3D2B"/>
                </a:solidFill>
                <a:latin typeface="Segoe UI"/>
              </a:rPr>
              <a:t>₹194 cr</a:t>
            </a:r>
          </a:p>
        </p:txBody>
      </p:sp>
      <p:sp>
        <p:nvSpPr>
          <p:cNvPr id="7" name="TextBox 6"/>
          <p:cNvSpPr txBox="1"/>
          <p:nvPr/>
        </p:nvSpPr>
        <p:spPr>
          <a:xfrm>
            <a:off x="548640" y="2514600"/>
            <a:ext cx="3657600" cy="914400"/>
          </a:xfrm>
          <a:prstGeom prst="rect">
            <a:avLst/>
          </a:prstGeom>
          <a:noFill/>
        </p:spPr>
        <p:txBody>
          <a:bodyPr wrap="square">
            <a:spAutoFit/>
          </a:bodyPr>
          <a:lstStyle/>
          <a:p>
            <a:pPr algn="l">
              <a:spcAft>
                <a:spcPts val="600"/>
              </a:spcAft>
            </a:pPr>
            <a:r>
              <a:rPr sz="1300" b="0">
                <a:solidFill>
                  <a:srgbClr val="52514E"/>
                </a:solidFill>
                <a:latin typeface="Segoe UI"/>
              </a:rPr>
              <a:t>value of Muktsar's ≈11.5 lakh t of straw at ₹169/quintal</a:t>
            </a:r>
          </a:p>
        </p:txBody>
      </p:sp>
      <p:sp>
        <p:nvSpPr>
          <p:cNvPr id="8" name="TextBox 7"/>
          <p:cNvSpPr txBox="1"/>
          <p:nvPr/>
        </p:nvSpPr>
        <p:spPr>
          <a:xfrm>
            <a:off x="4389120" y="1645920"/>
            <a:ext cx="3657600" cy="822960"/>
          </a:xfrm>
          <a:prstGeom prst="rect">
            <a:avLst/>
          </a:prstGeom>
          <a:noFill/>
        </p:spPr>
        <p:txBody>
          <a:bodyPr wrap="square">
            <a:spAutoFit/>
          </a:bodyPr>
          <a:lstStyle/>
          <a:p>
            <a:pPr algn="l">
              <a:spcAft>
                <a:spcPts val="600"/>
              </a:spcAft>
            </a:pPr>
            <a:r>
              <a:rPr sz="4000" b="1">
                <a:solidFill>
                  <a:srgbClr val="2A78D6"/>
                </a:solidFill>
                <a:latin typeface="Segoe UI"/>
              </a:rPr>
              <a:t>741 t</a:t>
            </a:r>
          </a:p>
        </p:txBody>
      </p:sp>
      <p:sp>
        <p:nvSpPr>
          <p:cNvPr id="9" name="TextBox 8"/>
          <p:cNvSpPr txBox="1"/>
          <p:nvPr/>
        </p:nvSpPr>
        <p:spPr>
          <a:xfrm>
            <a:off x="4389120" y="2514600"/>
            <a:ext cx="3657600" cy="914400"/>
          </a:xfrm>
          <a:prstGeom prst="rect">
            <a:avLst/>
          </a:prstGeom>
          <a:noFill/>
        </p:spPr>
        <p:txBody>
          <a:bodyPr wrap="square">
            <a:spAutoFit/>
          </a:bodyPr>
          <a:lstStyle/>
          <a:p>
            <a:pPr algn="l">
              <a:spcAft>
                <a:spcPts val="600"/>
              </a:spcAft>
            </a:pPr>
            <a:r>
              <a:rPr sz="1300" b="0">
                <a:solidFill>
                  <a:srgbClr val="52514E"/>
                </a:solidFill>
                <a:latin typeface="Segoe UI"/>
              </a:rPr>
              <a:t>CO₂e (CH₄ + N₂O) avoided per 1,000 ha not burned, plus 34 t PM2.5</a:t>
            </a:r>
          </a:p>
        </p:txBody>
      </p:sp>
      <p:sp>
        <p:nvSpPr>
          <p:cNvPr id="10" name="TextBox 9"/>
          <p:cNvSpPr txBox="1"/>
          <p:nvPr/>
        </p:nvSpPr>
        <p:spPr>
          <a:xfrm>
            <a:off x="8229600" y="1645920"/>
            <a:ext cx="3474720" cy="822960"/>
          </a:xfrm>
          <a:prstGeom prst="rect">
            <a:avLst/>
          </a:prstGeom>
          <a:noFill/>
        </p:spPr>
        <p:txBody>
          <a:bodyPr wrap="square">
            <a:spAutoFit/>
          </a:bodyPr>
          <a:lstStyle/>
          <a:p>
            <a:pPr algn="l">
              <a:spcAft>
                <a:spcPts val="600"/>
              </a:spcAft>
            </a:pPr>
            <a:r>
              <a:rPr sz="4000" b="1">
                <a:solidFill>
                  <a:srgbClr val="1D3D2B"/>
                </a:solidFill>
                <a:latin typeface="Segoe UI"/>
              </a:rPr>
              <a:t>₹0</a:t>
            </a:r>
          </a:p>
        </p:txBody>
      </p:sp>
      <p:sp>
        <p:nvSpPr>
          <p:cNvPr id="11" name="TextBox 10"/>
          <p:cNvSpPr txBox="1"/>
          <p:nvPr/>
        </p:nvSpPr>
        <p:spPr>
          <a:xfrm>
            <a:off x="8229600" y="2514600"/>
            <a:ext cx="3474720" cy="914400"/>
          </a:xfrm>
          <a:prstGeom prst="rect">
            <a:avLst/>
          </a:prstGeom>
          <a:noFill/>
        </p:spPr>
        <p:txBody>
          <a:bodyPr wrap="square">
            <a:spAutoFit/>
          </a:bodyPr>
          <a:lstStyle/>
          <a:p>
            <a:pPr algn="l">
              <a:spcAft>
                <a:spcPts val="600"/>
              </a:spcAft>
            </a:pPr>
            <a:r>
              <a:rPr sz="1300" b="0">
                <a:solidFill>
                  <a:srgbClr val="52514E"/>
                </a:solidFill>
                <a:latin typeface="Segoe UI"/>
              </a:rPr>
              <a:t>hardware: free Sentinel-2 / VIIRS / ERA5 and open-source tools</a:t>
            </a:r>
          </a:p>
        </p:txBody>
      </p:sp>
      <p:sp>
        <p:nvSpPr>
          <p:cNvPr id="12" name="TextBox 11"/>
          <p:cNvSpPr txBox="1"/>
          <p:nvPr/>
        </p:nvSpPr>
        <p:spPr>
          <a:xfrm>
            <a:off x="548640" y="4023360"/>
            <a:ext cx="10972800" cy="2286000"/>
          </a:xfrm>
          <a:prstGeom prst="rect">
            <a:avLst/>
          </a:prstGeom>
          <a:noFill/>
        </p:spPr>
        <p:txBody>
          <a:bodyPr wrap="square">
            <a:spAutoFit/>
          </a:bodyPr>
          <a:lstStyle/>
          <a:p>
            <a:pPr>
              <a:spcAft>
                <a:spcPts val="1000"/>
              </a:spcAft>
            </a:pPr>
            <a:r>
              <a:rPr sz="1400" b="1">
                <a:solidFill>
                  <a:srgbClr val="0B0B0B"/>
                </a:solidFill>
                <a:latin typeface="Segoe UI"/>
              </a:rPr>
              <a:t>Who pays: </a:t>
            </a:r>
            <a:r>
              <a:rPr sz="1400">
                <a:solidFill>
                  <a:srgbClr val="52514E"/>
                </a:solidFill>
                <a:latin typeface="Segoe UI"/>
              </a:rPr>
              <a:t>state CRM schemes for verified no-burn incentives (Haryana pays ₹1,200/acre after inspection); buyers pay per traceable tonne for ESG supply chains</a:t>
            </a:r>
          </a:p>
          <a:p>
            <a:pPr>
              <a:spcAft>
                <a:spcPts val="1000"/>
              </a:spcAft>
            </a:pPr>
            <a:r>
              <a:rPr sz="1400" b="1">
                <a:solidFill>
                  <a:srgbClr val="0B0B0B"/>
                </a:solidFill>
                <a:latin typeface="Segoe UI"/>
              </a:rPr>
              <a:t>Scale: </a:t>
            </a:r>
            <a:r>
              <a:rPr sz="1400">
                <a:solidFill>
                  <a:srgbClr val="52514E"/>
                </a:solidFill>
                <a:latin typeface="Segoe UI"/>
              </a:rPr>
              <a:t>same code for any district; Punjab has 23 and Haryana 22, using the same satellite tiles and fire archives</a:t>
            </a:r>
          </a:p>
          <a:p>
            <a:pPr>
              <a:spcAft>
                <a:spcPts val="1000"/>
              </a:spcAft>
            </a:pPr>
            <a:r>
              <a:rPr sz="1400" b="1">
                <a:solidFill>
                  <a:srgbClr val="0B0B0B"/>
                </a:solidFill>
                <a:latin typeface="Segoe UI"/>
              </a:rPr>
              <a:t>SDGs: </a:t>
            </a:r>
            <a:r>
              <a:rPr sz="1400">
                <a:solidFill>
                  <a:srgbClr val="52514E"/>
                </a:solidFill>
                <a:latin typeface="Segoe UI"/>
              </a:rPr>
              <a:t>12 responsible production · 13 climate action · 11 clean air in cities · 9 innovation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292608"/>
            <a:ext cx="10972800" cy="365760"/>
          </a:xfrm>
          <a:prstGeom prst="rect">
            <a:avLst/>
          </a:prstGeom>
          <a:noFill/>
        </p:spPr>
        <p:txBody>
          <a:bodyPr wrap="square">
            <a:spAutoFit/>
          </a:bodyPr>
          <a:lstStyle/>
          <a:p>
            <a:pPr algn="l">
              <a:spcAft>
                <a:spcPts val="600"/>
              </a:spcAft>
            </a:pPr>
            <a:r>
              <a:rPr sz="1100" b="1">
                <a:solidFill>
                  <a:srgbClr val="2F6B4F"/>
                </a:solidFill>
                <a:latin typeface="Segoe UI"/>
              </a:rPr>
              <a:t>HONEST LIMITS</a:t>
            </a:r>
          </a:p>
        </p:txBody>
      </p:sp>
      <p:sp>
        <p:nvSpPr>
          <p:cNvPr id="3" name="TextBox 2"/>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What we have not shown yet, and how we will</a:t>
            </a:r>
          </a:p>
        </p:txBody>
      </p:sp>
      <p:sp>
        <p:nvSpPr>
          <p:cNvPr id="4" name="TextBox 3"/>
          <p:cNvSpPr txBox="1"/>
          <p:nvPr/>
        </p:nvSpPr>
        <p:spPr>
          <a:xfrm>
            <a:off x="548640" y="6400800"/>
            <a:ext cx="10424160" cy="365760"/>
          </a:xfrm>
          <a:prstGeom prst="rect">
            <a:avLst/>
          </a:prstGeom>
          <a:noFill/>
        </p:spPr>
        <p:txBody>
          <a:bodyPr wrap="square">
            <a:spAutoFit/>
          </a:bodyPr>
          <a:lstStyle/>
          <a:p>
            <a:pPr algn="l">
              <a:spcAft>
                <a:spcPts val="600"/>
              </a:spcAft>
            </a:pPr>
            <a:r>
              <a:rPr sz="900" b="0">
                <a:solidFill>
                  <a:srgbClr val="898781"/>
                </a:solidFill>
                <a:latin typeface="Segoe UI"/>
              </a:rPr>
              <a:t>Full limitations: docs/RESEARCH_METHODS.md §11.</a:t>
            </a:r>
          </a:p>
        </p:txBody>
      </p:sp>
      <p:sp>
        <p:nvSpPr>
          <p:cNvPr id="5" name="TextBox 4"/>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12</a:t>
            </a:r>
          </a:p>
        </p:txBody>
      </p:sp>
      <p:sp>
        <p:nvSpPr>
          <p:cNvPr id="6" name="TextBox 5"/>
          <p:cNvSpPr txBox="1"/>
          <p:nvPr/>
        </p:nvSpPr>
        <p:spPr>
          <a:xfrm>
            <a:off x="548640" y="1554480"/>
            <a:ext cx="5486400" cy="4572000"/>
          </a:xfrm>
          <a:prstGeom prst="rect">
            <a:avLst/>
          </a:prstGeom>
          <a:noFill/>
        </p:spPr>
        <p:txBody>
          <a:bodyPr wrap="square">
            <a:spAutoFit/>
          </a:bodyPr>
          <a:lstStyle/>
          <a:p>
            <a:pPr>
              <a:spcAft>
                <a:spcPts val="1000"/>
              </a:spcAft>
            </a:pPr>
            <a:r>
              <a:rPr sz="1400" b="1">
                <a:solidFill>
                  <a:srgbClr val="0B0B0B"/>
                </a:solidFill>
                <a:latin typeface="Segoe UI"/>
              </a:rPr>
              <a:t>Precision: </a:t>
            </a:r>
            <a:r>
              <a:rPr sz="1400">
                <a:solidFill>
                  <a:srgbClr val="52514E"/>
                </a:solidFill>
                <a:latin typeface="Segoe UI"/>
              </a:rPr>
              <a:t>blind stratified labels in progress (AI-assisted check: about 7–8 of 10 strict detections show char)</a:t>
            </a:r>
          </a:p>
          <a:p>
            <a:pPr>
              <a:spcAft>
                <a:spcPts val="1000"/>
              </a:spcAft>
            </a:pPr>
            <a:r>
              <a:rPr sz="1400" b="1">
                <a:solidFill>
                  <a:srgbClr val="0B0B0B"/>
                </a:solidFill>
                <a:latin typeface="Segoe UI"/>
              </a:rPr>
              <a:t>Lower bounds: </a:t>
            </a:r>
            <a:r>
              <a:rPr sz="1400">
                <a:solidFill>
                  <a:srgbClr val="52514E"/>
                </a:solidFill>
                <a:latin typeface="Segoe UI"/>
              </a:rPr>
              <a:t>small or quickly tilled burns between revisits are missed</a:t>
            </a:r>
          </a:p>
          <a:p>
            <a:pPr>
              <a:spcAft>
                <a:spcPts val="1000"/>
              </a:spcAft>
            </a:pPr>
            <a:r>
              <a:rPr sz="1400" b="1">
                <a:solidFill>
                  <a:srgbClr val="0B0B0B"/>
                </a:solidFill>
                <a:latin typeface="Segoe UI"/>
              </a:rPr>
              <a:t>Crop type: </a:t>
            </a:r>
            <a:r>
              <a:rPr sz="1400">
                <a:solidFill>
                  <a:srgbClr val="52514E"/>
                </a:solidFill>
                <a:latin typeface="Segoe UI"/>
              </a:rPr>
              <a:t>the cotton-growing south needs a Sentinel-1 paddy mask</a:t>
            </a:r>
          </a:p>
          <a:p>
            <a:pPr>
              <a:spcAft>
                <a:spcPts val="1000"/>
              </a:spcAft>
            </a:pPr>
            <a:r>
              <a:rPr sz="1400" b="1">
                <a:solidFill>
                  <a:srgbClr val="0B0B0B"/>
                </a:solidFill>
                <a:latin typeface="Segoe UI"/>
              </a:rPr>
              <a:t>Replay assumptions: </a:t>
            </a:r>
            <a:r>
              <a:rPr sz="1400">
                <a:solidFill>
                  <a:srgbClr val="52514E"/>
                </a:solidFill>
                <a:latin typeface="Segoe UI"/>
              </a:rPr>
              <a:t>baling prevents burning; no travel time; no farmer acceptance yet</a:t>
            </a:r>
          </a:p>
        </p:txBody>
      </p:sp>
      <p:sp>
        <p:nvSpPr>
          <p:cNvPr id="7" name="TextBox 6"/>
          <p:cNvSpPr txBox="1"/>
          <p:nvPr/>
        </p:nvSpPr>
        <p:spPr>
          <a:xfrm>
            <a:off x="6309360" y="1554480"/>
            <a:ext cx="5486400" cy="4572000"/>
          </a:xfrm>
          <a:prstGeom prst="rect">
            <a:avLst/>
          </a:prstGeom>
          <a:noFill/>
        </p:spPr>
        <p:txBody>
          <a:bodyPr wrap="square">
            <a:spAutoFit/>
          </a:bodyPr>
          <a:lstStyle/>
          <a:p>
            <a:pPr>
              <a:spcAft>
                <a:spcPts val="1000"/>
              </a:spcAft>
            </a:pPr>
            <a:r>
              <a:rPr sz="1400" b="1">
                <a:solidFill>
                  <a:srgbClr val="0B0B0B"/>
                </a:solidFill>
                <a:latin typeface="Segoe UI"/>
              </a:rPr>
              <a:t>Week 1: </a:t>
            </a:r>
            <a:r>
              <a:rPr sz="1400">
                <a:solidFill>
                  <a:srgbClr val="52514E"/>
                </a:solidFill>
                <a:latin typeface="Segoe UI"/>
              </a:rPr>
              <a:t>finish labels → publish precision, recall and area with 95% CI</a:t>
            </a:r>
          </a:p>
          <a:p>
            <a:pPr>
              <a:spcAft>
                <a:spcPts val="1000"/>
              </a:spcAft>
            </a:pPr>
            <a:r>
              <a:rPr sz="1400" b="1">
                <a:solidFill>
                  <a:srgbClr val="0B0B0B"/>
                </a:solidFill>
                <a:latin typeface="Segoe UI"/>
              </a:rPr>
              <a:t>Month 1: </a:t>
            </a:r>
            <a:r>
              <a:rPr sz="1400">
                <a:solidFill>
                  <a:srgbClr val="52514E"/>
                </a:solidFill>
                <a:latin typeface="Segoe UI"/>
              </a:rPr>
              <a:t>Sentinel-1 radar for smog gaps and a paddy mask</a:t>
            </a:r>
          </a:p>
          <a:p>
            <a:pPr>
              <a:spcAft>
                <a:spcPts val="1000"/>
              </a:spcAft>
            </a:pPr>
            <a:r>
              <a:rPr sz="1400" b="1">
                <a:solidFill>
                  <a:srgbClr val="0B0B0B"/>
                </a:solidFill>
                <a:latin typeface="Segoe UI"/>
              </a:rPr>
              <a:t>Season 2026: </a:t>
            </a:r>
            <a:r>
              <a:rPr sz="1400">
                <a:solidFill>
                  <a:srgbClr val="52514E"/>
                </a:solidFill>
                <a:latin typeface="Segoe UI"/>
              </a:rPr>
              <a:t>pilot in one block with a baler cooperative and a straw buyer</a:t>
            </a:r>
          </a:p>
          <a:p>
            <a:pPr>
              <a:spcAft>
                <a:spcPts val="1000"/>
              </a:spcAft>
            </a:pPr>
            <a:r>
              <a:rPr sz="1400" b="1">
                <a:solidFill>
                  <a:srgbClr val="0B0B0B"/>
                </a:solidFill>
                <a:latin typeface="Segoe UI"/>
              </a:rPr>
              <a:t>Policy: </a:t>
            </a:r>
            <a:r>
              <a:rPr sz="1400">
                <a:solidFill>
                  <a:srgbClr val="52514E"/>
                </a:solidFill>
                <a:latin typeface="Segoe UI"/>
              </a:rPr>
              <a:t>propose burn-scar area, not fire counts, as the official indicator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48640" y="566928"/>
            <a:ext cx="11155680" cy="914400"/>
          </a:xfrm>
          <a:prstGeom prst="rect">
            <a:avLst/>
          </a:prstGeom>
          <a:noFill/>
        </p:spPr>
        <p:txBody>
          <a:bodyPr wrap="square">
            <a:spAutoFit/>
          </a:bodyPr>
          <a:lstStyle/>
          <a:p>
            <a:pPr algn="l">
              <a:spcAft>
                <a:spcPts val="600"/>
              </a:spcAft>
            </a:pPr>
            <a:r>
              <a:rPr sz="2800" b="1">
                <a:solidFill>
                  <a:srgbClr val="0B0B0B"/>
                </a:solidFill>
                <a:latin typeface="Segoe UI"/>
              </a:rPr>
              <a:t>Measure burns, not alerts. Pay for straw, not fines.</a:t>
            </a:r>
          </a:p>
        </p:txBody>
      </p:sp>
      <p:sp>
        <p:nvSpPr>
          <p:cNvPr id="3" name="TextBox 2"/>
          <p:cNvSpPr txBox="1"/>
          <p:nvPr/>
        </p:nvSpPr>
        <p:spPr>
          <a:xfrm>
            <a:off x="11155680" y="6400800"/>
            <a:ext cx="640080" cy="365760"/>
          </a:xfrm>
          <a:prstGeom prst="rect">
            <a:avLst/>
          </a:prstGeom>
          <a:noFill/>
        </p:spPr>
        <p:txBody>
          <a:bodyPr wrap="square">
            <a:spAutoFit/>
          </a:bodyPr>
          <a:lstStyle/>
          <a:p>
            <a:pPr algn="r">
              <a:spcAft>
                <a:spcPts val="600"/>
              </a:spcAft>
            </a:pPr>
            <a:r>
              <a:rPr sz="900" b="0">
                <a:solidFill>
                  <a:srgbClr val="898781"/>
                </a:solidFill>
                <a:latin typeface="Segoe UI"/>
              </a:rPr>
              <a:t>13</a:t>
            </a:r>
          </a:p>
        </p:txBody>
      </p:sp>
      <p:sp>
        <p:nvSpPr>
          <p:cNvPr id="4" name="TextBox 3"/>
          <p:cNvSpPr txBox="1"/>
          <p:nvPr/>
        </p:nvSpPr>
        <p:spPr>
          <a:xfrm>
            <a:off x="548640" y="1828800"/>
            <a:ext cx="10972800" cy="2286000"/>
          </a:xfrm>
          <a:prstGeom prst="rect">
            <a:avLst/>
          </a:prstGeom>
          <a:noFill/>
        </p:spPr>
        <p:txBody>
          <a:bodyPr wrap="square">
            <a:spAutoFit/>
          </a:bodyPr>
          <a:lstStyle/>
          <a:p>
            <a:pPr algn="l">
              <a:spcAft>
                <a:spcPts val="600"/>
              </a:spcAft>
            </a:pPr>
            <a:r>
              <a:rPr sz="2000" b="0">
                <a:solidFill>
                  <a:srgbClr val="52514E"/>
                </a:solidFill>
                <a:latin typeface="Segoe UI"/>
              </a:rPr>
              <a:t>Fire alerts −79% · burn scars unchanged · 92% of strict-tier burn candidates unseen by fire satellites (2025)</a:t>
            </a:r>
          </a:p>
          <a:p>
            <a:pPr algn="l">
              <a:spcAft>
                <a:spcPts val="600"/>
              </a:spcAft>
            </a:pPr>
            <a:r>
              <a:rPr sz="2000" b="0">
                <a:solidFill>
                  <a:srgbClr val="52514E"/>
                </a:solidFill>
                <a:latin typeface="Segoe UI"/>
              </a:rPr>
              <a:t>2.6× more burns pre-empted with the same 100 balers · live 2026 nowcast for Muktsar</a:t>
            </a:r>
          </a:p>
        </p:txBody>
      </p:sp>
      <p:sp>
        <p:nvSpPr>
          <p:cNvPr id="5" name="TextBox 4"/>
          <p:cNvSpPr txBox="1"/>
          <p:nvPr/>
        </p:nvSpPr>
        <p:spPr>
          <a:xfrm>
            <a:off x="548640" y="4206240"/>
            <a:ext cx="10972800" cy="1371600"/>
          </a:xfrm>
          <a:prstGeom prst="rect">
            <a:avLst/>
          </a:prstGeom>
          <a:noFill/>
        </p:spPr>
        <p:txBody>
          <a:bodyPr wrap="square">
            <a:spAutoFit/>
          </a:bodyPr>
          <a:lstStyle/>
          <a:p>
            <a:pPr algn="l">
              <a:spcAft>
                <a:spcPts val="600"/>
              </a:spcAft>
            </a:pPr>
            <a:r>
              <a:rPr sz="1400" b="0">
                <a:solidFill>
                  <a:srgbClr val="898781"/>
                </a:solidFill>
                <a:latin typeface="Segoe UI"/>
              </a:rPr>
              <a:t>Parali Se Paisa · Greenovators Hackathon 2026 · Amity University Noida</a:t>
            </a:r>
          </a:p>
          <a:p>
            <a:pPr algn="l">
              <a:spcAft>
                <a:spcPts val="600"/>
              </a:spcAft>
            </a:pPr>
            <a:r>
              <a:rPr sz="1400" b="0">
                <a:solidFill>
                  <a:srgbClr val="898781"/>
                </a:solidFill>
                <a:latin typeface="Segoe UI"/>
              </a:rPr>
              <a:t>Reproducible: scripts/run_research.py · docs/RESEARCH_METHODS.md · reports/research/RESEARCH_SUMMARY.md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